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59" r:id="rId19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Poppins" panose="00000500000000000000" pitchFamily="2" charset="0"/>
      <p:regular r:id="rId25"/>
      <p:bold r:id="rId26"/>
      <p:italic r:id="rId27"/>
      <p:boldItalic r:id="rId28"/>
    </p:embeddedFont>
    <p:embeddedFont>
      <p:font typeface="Poppins Medium" panose="00000600000000000000" pitchFamily="2" charset="0"/>
      <p:regular r:id="rId29"/>
      <p: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B5E6DA-D863-0C71-78FF-DA6FBB8B881D}" v="7" dt="2026-07-18T08:39:39.1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7bd6ce0d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e7bd6ce0d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f0cc5a6d4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f0cc5a6d4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57" name="Google Shape;57;p13"/>
          <p:cNvSpPr txBox="1"/>
          <p:nvPr/>
        </p:nvSpPr>
        <p:spPr>
          <a:xfrm>
            <a:off x="358325" y="1938375"/>
            <a:ext cx="44541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FFFFFF"/>
                </a:solidFill>
                <a:latin typeface="Arial"/>
                <a:ea typeface="Poppins"/>
                <a:cs typeface="Poppins"/>
                <a:sym typeface="Poppins"/>
              </a:rPr>
              <a:t>Agentic AI: Building, Optimizing
&amp; Operationalizing Agents</a:t>
            </a:r>
            <a:endParaRPr sz="240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11700" y="4220651"/>
            <a:ext cx="4454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500" b="1" i="0" u="none" strike="noStrike" cap="none">
                <a:solidFill>
                  <a:srgbClr val="FFFFFF"/>
                </a:solidFill>
                <a:latin typeface="Arial"/>
                <a:ea typeface="Poppins Medium"/>
                <a:cs typeface="Poppins Medium"/>
                <a:sym typeface="Poppins Medium"/>
              </a:rPr>
              <a:t>Manoranjan Rajguru</a:t>
            </a:r>
            <a:endParaRPr sz="1400" b="0" i="0" u="none" strike="noStrike" cap="none">
              <a:solidFill>
                <a:srgbClr val="FFFFFF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320525" y="4452601"/>
            <a:ext cx="4454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CCCCCC"/>
                </a:solidFill>
                <a:latin typeface="Arial"/>
                <a:ea typeface="Poppins Medium"/>
                <a:cs typeface="Poppins Medium"/>
                <a:sym typeface="Poppins Medium"/>
              </a:rPr>
              <a:t>Microsoft</a:t>
            </a:r>
            <a:endParaRPr sz="1100" b="0" i="0" u="none" strike="noStrike" cap="none">
              <a:solidFill>
                <a:srgbClr val="FFFFFF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60" name="Google Shape;60;p13" title="Speaker_worksho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/>
        </p:nvSpPr>
        <p:spPr>
          <a:xfrm>
            <a:off x="358325" y="1938375"/>
            <a:ext cx="44541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FFFFFF"/>
                </a:solidFill>
                <a:latin typeface="Arial"/>
                <a:ea typeface="Poppins"/>
                <a:cs typeface="Poppins"/>
                <a:sym typeface="Poppins"/>
              </a:rPr>
              <a:t>Agentic AI: Building, Optimizing
&amp; Operationalizing Agents</a:t>
            </a:r>
            <a:endParaRPr sz="240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311700" y="4220651"/>
            <a:ext cx="4454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500" b="1" i="0" u="none" strike="noStrike" cap="none">
                <a:solidFill>
                  <a:srgbClr val="FFFFFF"/>
                </a:solidFill>
                <a:latin typeface="Arial"/>
                <a:ea typeface="Poppins Medium"/>
                <a:cs typeface="Poppins Medium"/>
                <a:sym typeface="Poppins Medium"/>
              </a:rPr>
              <a:t>Manoranjan Rajguru</a:t>
            </a:r>
            <a:endParaRPr sz="1400" b="0" i="0" u="none" strike="noStrike" cap="none">
              <a:solidFill>
                <a:srgbClr val="FFFFFF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320525" y="4452601"/>
            <a:ext cx="4454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CCCCCC"/>
                </a:solidFill>
                <a:latin typeface="Arial"/>
                <a:ea typeface="Poppins Medium"/>
                <a:cs typeface="Poppins Medium"/>
                <a:sym typeface="Poppins Medium"/>
              </a:rPr>
              <a:t>Microsoft</a:t>
            </a:r>
            <a:endParaRPr sz="1100" b="0" i="0" u="none" strike="noStrike" cap="none">
              <a:solidFill>
                <a:srgbClr val="FFFFFF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The Day — From One LLM Call to a Full Agent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502920" y="1188720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80160" y="1170432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Your First Agent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the agent loop, streaming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2920" y="1581912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80160" y="1563624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Tools &amp; Function Calling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give the agent hands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02920" y="1975104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80160" y="1956816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Context Engineering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sessions, memory, compaction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02920" y="2368296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0160" y="2350008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The Agent Harness  ★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create_harness_agent — batteries included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02920" y="2761488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280160" y="2743200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Multi-Agent Orchestration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sequential, concurrent, handoff…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2920" y="3154680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80160" y="3136392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Evaluating &amp; Optimizing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measure quality, gate CI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02920" y="3547872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80160" y="3529584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Operationalizing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tracing, middleware, guardrails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2920" y="3941064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280160" y="3922776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Capstone &amp; Hosting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combine it all; A2A, Functions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" y="435254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Labs are hands-on Jupyter notebooks · live at monuminu.github.io/DHS-workshop26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502920" y="1828800"/>
            <a:ext cx="822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30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Foundations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600200"/>
            <a:ext cx="1463040" cy="54864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6B3FA0"/>
                </a:solidFill>
                <a:latin typeface="Arial"/>
              </a:rPr>
              <a:t>What is an agent, and why now?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From an LLM Call to an Agent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An LLM alone is text-in, text-out — no memory, no actions.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An agent wraps the model in a loop that adds three powers: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Tools — it can act, not just talk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Memory — it remembers across turns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Control flow — it plans and repeats until done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Agent = model + instructions + tools + a loop.</a:t>
            </a:r>
          </a:p>
        </p:txBody>
      </p:sp>
      <p:pic>
        <p:nvPicPr>
          <p:cNvPr id="81" name="Picture 80" descr="agen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The anatomy of an agent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The Agent Loop (ReAct)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8138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Every agent.run() executes a reason → act → observe loop:</a:t>
            </a:r>
          </a:p>
          <a:p>
            <a:pPr lvl="1"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1 · Send conversation + available tools to the model</a:t>
            </a:r>
          </a:p>
          <a:p>
            <a:pPr lvl="1"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2 · If the model calls a tool, run it and feed the result back</a:t>
            </a:r>
          </a:p>
          <a:p>
            <a:pPr lvl="1"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3 · Repeat until the model returns a final answer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40080" y="3017520"/>
            <a:ext cx="1691640" cy="640080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REASON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13432" y="3127248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444444"/>
                </a:solidFill>
                <a:latin typeface="Arial"/>
              </a:rPr>
              <a:t>→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560320" y="3017520"/>
            <a:ext cx="1691640" cy="640080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ACT (tool)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33672" y="3127248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444444"/>
                </a:solidFill>
                <a:latin typeface="Arial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480560" y="3017520"/>
            <a:ext cx="1691640" cy="640080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OBSERVE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53912" y="3127248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444444"/>
                </a:solidFill>
                <a:latin typeface="Arial"/>
              </a:rPr>
              <a:t>→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00800" y="3017520"/>
            <a:ext cx="1691640" cy="640080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02336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With no tools the loop is a single hop; add tools (M2) and it iterates.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Why the Microsoft Agent Framework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29768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Open-source SDK — the successor to Semantic Kernel + AutoGen.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Two core capabilities: Agents and Workflows.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Code-first and fully programmable.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Provider-agnostic — one interface, many backends.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Python and C#.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81818"/>
                </a:solidFill>
                <a:latin typeface="Arial"/>
              </a:rPr>
              <a:t>Swap with one env var: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892040" y="1325880"/>
            <a:ext cx="1920240" cy="384048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Azure AI Foundry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949440" y="1325880"/>
            <a:ext cx="1920240" cy="384048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OpenAI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92040" y="1828800"/>
            <a:ext cx="1920240" cy="384048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Azure OpenAI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49440" y="1828800"/>
            <a:ext cx="1920240" cy="384048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Anthropic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892040" y="2331720"/>
            <a:ext cx="1920240" cy="384048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Ollama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49440" y="2331720"/>
            <a:ext cx="1920240" cy="384048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AWS Bedrock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892040" y="2834640"/>
            <a:ext cx="1920240" cy="384048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Google Gemini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2040" y="338328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MODEL_PROVIDER=…  → notebook code never changes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502920" y="1828800"/>
            <a:ext cx="822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30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Context Engineering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600200"/>
            <a:ext cx="1463040" cy="54864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6B3FA0"/>
                </a:solidFill>
                <a:latin typeface="Arial"/>
              </a:rPr>
              <a:t>Deciding what the model sees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Context Engineering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The model only sees what fits in its context window.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Engineering that window is where real quality comes from.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Sessions — carry history across turns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Context providers — inject facts before each run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Memory — persist what matters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Compaction — summarize so you never overflow</a:t>
            </a:r>
          </a:p>
        </p:txBody>
      </p:sp>
      <p:pic>
        <p:nvPicPr>
          <p:cNvPr id="81" name="Picture 80" descr="context-engine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What goes into the window each turn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502920" y="1828800"/>
            <a:ext cx="822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30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The Agent Harness  ★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600200"/>
            <a:ext cx="1463040" cy="54864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6B3FA0"/>
                </a:solidFill>
                <a:latin typeface="Arial"/>
              </a:rPr>
              <a:t>Everything, assembled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 dirty="0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What is Agent Harness ?</a:t>
            </a:r>
            <a:endParaRPr sz="2400" b="1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Re-assembling the same machinery every time? The harness packages it.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One factory call wires up: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Tool loop · history + persistence · compaction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Todos (planning) · plan/execute modes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Durable memory · skills · OpenTelemetry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Every battery can be disabled or replaced.</a:t>
            </a:r>
          </a:p>
        </p:txBody>
      </p:sp>
      <p:pic>
        <p:nvPicPr>
          <p:cNvPr id="81" name="Picture 80" descr="agent-har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The 8 batteries of the harness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Tools &amp; Function Calling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11480" y="873252"/>
            <a:ext cx="81381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 tool is a typed Python function + a docstring + the @tool decorator.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The model decides when to call it; the framework runs it and loops.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Approval gates put a human in the loop for risky actions: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approval_mode="always_require" pauses for confirmation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approval_mode="never_require" runs automatically (demos)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3138678"/>
            <a:ext cx="1691640" cy="566928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@tool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331720" y="3138678"/>
            <a:ext cx="1691640" cy="566928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model calls it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51960" y="3138678"/>
            <a:ext cx="1691640" cy="566928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run + feed back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72200" y="3138678"/>
            <a:ext cx="1691640" cy="566928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400" bIns="254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approve?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Tools are the agent's hands — small, well-described, single-purpose.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502920" y="1828800"/>
            <a:ext cx="822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30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Multi-Agent Orchestration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600200"/>
            <a:ext cx="1463040" cy="54864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6B3FA0"/>
                </a:solidFill>
                <a:latin typeface="Arial"/>
              </a:rPr>
              <a:t>When one agent isn't enough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Five Orchestration Patterns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0" name="Picture 79" descr="orchestration-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342" y="433668"/>
            <a:ext cx="6682839" cy="39946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103120" y="3715086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dirty="0">
                <a:solidFill>
                  <a:srgbClr val="444444"/>
                </a:solidFill>
                <a:latin typeface="Arial"/>
              </a:rPr>
              <a:t>Specialized agents collaborating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420624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00" b="0" i="0">
                <a:solidFill>
                  <a:srgbClr val="181818"/>
                </a:solidFill>
                <a:latin typeface="Arial"/>
              </a:rPr>
              <a:t>Sequential · Concurrent · Handoff · Group Chat · Magentic — start with the simplest that fits.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502920" y="1828800"/>
            <a:ext cx="822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30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Optimize &amp; Operate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48640" y="1600200"/>
            <a:ext cx="1463040" cy="54864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8640" y="260604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6B3FA0"/>
                </a:solidFill>
                <a:latin typeface="Arial"/>
              </a:rPr>
              <a:t>From demo to 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Evaluating &amp; Optimizing Agents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 demo that works once isn't a product.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Measure quality so you can improve it on purpose: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Define checks (keyword, custom, model-graded)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Run them over a query set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Inspect failures → improve → re-run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raise_for_status() makes a regression break CI.</a:t>
            </a:r>
          </a:p>
        </p:txBody>
      </p:sp>
      <p:pic>
        <p:nvPicPr>
          <p:cNvPr id="81" name="Picture 80" descr="evaluation-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The evaluation loop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Operationalizing — See Inside the Agent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Agents are non-deterministic and call external tools.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Middleware = a control point around every model call: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Usage tracking (tokens / cost)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Guardrails (redaction, injection checks)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OpenTelemetry gives end-to-end traces to any backend.</a:t>
            </a:r>
          </a:p>
        </p:txBody>
      </p:sp>
      <p:pic>
        <p:nvPicPr>
          <p:cNvPr id="81" name="Picture 80" descr="observ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Tracing, usage &amp; guardrails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/>
        </p:nvSpPr>
        <p:spPr>
          <a:xfrm>
            <a:off x="116350" y="15125"/>
            <a:ext cx="5991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181818"/>
                </a:solidFill>
                <a:latin typeface="Arial"/>
                <a:ea typeface="Inter"/>
                <a:cs typeface="Inter"/>
                <a:sym typeface="Inter"/>
              </a:rPr>
              <a:t>Hands-On — Build It Yourself</a:t>
            </a:r>
            <a:endParaRPr sz="24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81381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500" b="0" i="0">
                <a:solidFill>
                  <a:srgbClr val="181818"/>
                </a:solidFill>
                <a:latin typeface="Arial"/>
              </a:rPr>
              <a:t>8 self-contained lab notebooks — M1 through M8.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500" b="0" i="0">
                <a:solidFill>
                  <a:srgbClr val="181818"/>
                </a:solidFill>
                <a:latin typeface="Arial"/>
              </a:rPr>
              <a:t>Provider-agnostic: pick a backend, the code stays the same.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500" b="0" i="0">
                <a:solidFill>
                  <a:srgbClr val="181818"/>
                </a:solidFill>
                <a:latin typeface="Arial"/>
              </a:rPr>
              <a:t>Runnable without an instructor — revisit anytime.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40080" y="2971800"/>
            <a:ext cx="7863840" cy="91440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68680" y="3127248"/>
            <a:ext cx="7406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181818"/>
                </a:solidFill>
                <a:latin typeface="Arial"/>
              </a:rPr>
              <a:t>Live workshop site:  </a:t>
            </a:r>
            <a:r>
              <a:rPr sz="1500" b="1" i="0">
                <a:solidFill>
                  <a:srgbClr val="4B3FC4"/>
                </a:solidFill>
                <a:latin typeface="Arial"/>
              </a:rPr>
              <a:t>monuminu.github.io/DHS-workshop26</a:t>
            </a:r>
          </a:p>
          <a:p>
            <a:r>
              <a:rPr sz="1200" b="0" i="0">
                <a:solidFill>
                  <a:srgbClr val="444444"/>
                </a:solidFill>
                <a:latin typeface="Arial"/>
              </a:rPr>
              <a:t>github.com/microsoft/agent-framework  ·  learn.microsoft.com/agent-framework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87" name="Google Shape;87;p16" title="Speaker_ppt -back (1)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851</Words>
  <Application>Microsoft Office PowerPoint</Application>
  <PresentationFormat>On-screen Show (16:9)</PresentationFormat>
  <Paragraphs>121</Paragraphs>
  <Slides>18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Manoranjan Rajguru</cp:lastModifiedBy>
  <cp:revision>9</cp:revision>
  <dcterms:modified xsi:type="dcterms:W3CDTF">2026-07-18T08:39:50Z</dcterms:modified>
</cp:coreProperties>
</file>