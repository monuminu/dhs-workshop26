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  <p:sldId id="307" r:id="rId67"/>
    <p:sldId id="308" r:id="rId68"/>
    <p:sldId id="309" r:id="rId69"/>
    <p:sldId id="310" r:id="rId70"/>
    <p:sldId id="311" r:id="rId71"/>
    <p:sldId id="312" r:id="rId72"/>
    <p:sldId id="313" r:id="rId73"/>
    <p:sldId id="314" r:id="rId74"/>
    <p:sldId id="315" r:id="rId75"/>
  </p:sldIdLst>
  <p:sldSz cx="9144000" cy="5143500" type="screen16x9"/>
  <p:notesSz cx="6858000" cy="9144000"/>
  <p:embeddedFontLst>
    <p:embeddedFont>
      <p:font typeface="Inter" panose="020B060402020202020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Medium" panose="00000600000000000000" pitchFamily="2" charset="0"/>
      <p:regular r:id="rId29"/>
      <p: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B5E6DA-D863-0C71-78FF-DA6FBB8B881D}" v="7" dt="2026-07-18T08:39:39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notesMaster" Target="notesMasters/notesMaster1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Relationship Id="rId29" Type="http://schemas.openxmlformats.org/officeDocument/2006/relationships/font" Target="fonts/font9.fntdata"/><Relationship Id="rId30" Type="http://schemas.openxmlformats.org/officeDocument/2006/relationships/font" Target="fonts/font10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Relationship Id="rId40" Type="http://schemas.openxmlformats.org/officeDocument/2006/relationships/slide" Target="slides/slide23.xml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Relationship Id="rId54" Type="http://schemas.openxmlformats.org/officeDocument/2006/relationships/slide" Target="slides/slide37.xml"/><Relationship Id="rId55" Type="http://schemas.openxmlformats.org/officeDocument/2006/relationships/slide" Target="slides/slide38.xml"/><Relationship Id="rId56" Type="http://schemas.openxmlformats.org/officeDocument/2006/relationships/slide" Target="slides/slide39.xml"/><Relationship Id="rId57" Type="http://schemas.openxmlformats.org/officeDocument/2006/relationships/slide" Target="slides/slide40.xml"/><Relationship Id="rId58" Type="http://schemas.openxmlformats.org/officeDocument/2006/relationships/slide" Target="slides/slide41.xml"/><Relationship Id="rId59" Type="http://schemas.openxmlformats.org/officeDocument/2006/relationships/slide" Target="slides/slide42.xml"/><Relationship Id="rId60" Type="http://schemas.openxmlformats.org/officeDocument/2006/relationships/slide" Target="slides/slide43.xml"/><Relationship Id="rId61" Type="http://schemas.openxmlformats.org/officeDocument/2006/relationships/slide" Target="slides/slide44.xml"/><Relationship Id="rId62" Type="http://schemas.openxmlformats.org/officeDocument/2006/relationships/slide" Target="slides/slide45.xml"/><Relationship Id="rId63" Type="http://schemas.openxmlformats.org/officeDocument/2006/relationships/slide" Target="slides/slide46.xml"/><Relationship Id="rId64" Type="http://schemas.openxmlformats.org/officeDocument/2006/relationships/slide" Target="slides/slide47.xml"/><Relationship Id="rId65" Type="http://schemas.openxmlformats.org/officeDocument/2006/relationships/slide" Target="slides/slide48.xml"/><Relationship Id="rId66" Type="http://schemas.openxmlformats.org/officeDocument/2006/relationships/slide" Target="slides/slide49.xml"/><Relationship Id="rId67" Type="http://schemas.openxmlformats.org/officeDocument/2006/relationships/slide" Target="slides/slide50.xml"/><Relationship Id="rId68" Type="http://schemas.openxmlformats.org/officeDocument/2006/relationships/slide" Target="slides/slide51.xml"/><Relationship Id="rId69" Type="http://schemas.openxmlformats.org/officeDocument/2006/relationships/slide" Target="slides/slide52.xml"/><Relationship Id="rId70" Type="http://schemas.openxmlformats.org/officeDocument/2006/relationships/slide" Target="slides/slide53.xml"/><Relationship Id="rId71" Type="http://schemas.openxmlformats.org/officeDocument/2006/relationships/slide" Target="slides/slide54.xml"/><Relationship Id="rId72" Type="http://schemas.openxmlformats.org/officeDocument/2006/relationships/slide" Target="slides/slide55.xml"/><Relationship Id="rId73" Type="http://schemas.openxmlformats.org/officeDocument/2006/relationships/slide" Target="slides/slide56.xml"/><Relationship Id="rId74" Type="http://schemas.openxmlformats.org/officeDocument/2006/relationships/slide" Target="slides/slide57.xml"/><Relationship Id="rId75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0" name="Google Shape;60;p13" title="Speaker_workshop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TextBox 60"/>
          <p:cNvSpPr txBox="1"/>
          <p:nvPr/>
        </p:nvSpPr>
        <p:spPr>
          <a:xfrm>
            <a:off x="658368" y="960120"/>
            <a:ext cx="7726679" cy="13258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rial"/>
              </a:rPr>
              <a:t>Building Agents with the
Microsoft Agent Framework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487168"/>
            <a:ext cx="6949440" cy="603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 i="0">
                <a:solidFill>
                  <a:srgbClr val="E4E4EA"/>
                </a:solidFill>
                <a:latin typeface="Arial"/>
              </a:rPr>
              <a:t>A deep technical workshop on loops, context, harnesses,
orchestration, evaluation, and production operation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85800" y="3401568"/>
            <a:ext cx="1143000" cy="310896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DHS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65960" y="3410712"/>
            <a:ext cx="5212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Manoranjan Rajguru  ·  Microsoft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4343400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 i="0">
                <a:solidFill>
                  <a:srgbClr val="109AB5"/>
                </a:solidFill>
                <a:latin typeface="Arial"/>
              </a:rPr>
              <a:t>MODEL → TOOLS → STATE → CONTROL FLOW → EVIDENCE → OPERATIONS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FOUNDATIONS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Why Agentic Systems Now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1115568"/>
            <a:ext cx="2560320" cy="1234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02920" y="1115568"/>
            <a:ext cx="73152" cy="123444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67512" y="1225295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Capability moved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7512" y="1591056"/>
            <a:ext cx="228600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Models can select tools, follow structured schemas, and reason across long task horizons.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91840" y="1115568"/>
            <a:ext cx="2560320" cy="123444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91840" y="1115568"/>
            <a:ext cx="73152" cy="123444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56432" y="1225295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Complexity moved outward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56432" y="1591056"/>
            <a:ext cx="228600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Reliability now depends on the execution layer: state, retries, approvals, persistence, and budgets.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80760" y="1115568"/>
            <a:ext cx="2560320" cy="123444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080760" y="1115568"/>
            <a:ext cx="73152" cy="123444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45352" y="1225295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Value moved to systems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45352" y="1591056"/>
            <a:ext cx="228600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Production differentiation is the harness around the model—not another prompt wrapper.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94360" y="2907792"/>
            <a:ext cx="1796795" cy="621792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PROMPT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409444" y="3218688"/>
            <a:ext cx="219455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ounded Rectangle 98"/>
          <p:cNvSpPr/>
          <p:nvPr/>
        </p:nvSpPr>
        <p:spPr>
          <a:xfrm>
            <a:off x="2647188" y="2907792"/>
            <a:ext cx="1796795" cy="621792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TOOL USE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462271" y="3218688"/>
            <a:ext cx="219457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4700016" y="2907792"/>
            <a:ext cx="1796795" cy="621792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DURABLE LOOP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515100" y="321868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6752844" y="2907792"/>
            <a:ext cx="1796795" cy="621792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GOVERNED SYSTEM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40080" y="3977639"/>
            <a:ext cx="786384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9808" y="4059935"/>
            <a:ext cx="7644383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6B3FA0"/>
                </a:solidFill>
                <a:latin typeface="Arial"/>
              </a:rPr>
              <a:t>Engineering question: what must remain deterministic when the model is not?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SYSTEM OUTCOMES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Workshop Goals and Expected Outcomes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03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548640" y="1097280"/>
          <a:ext cx="8046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011680"/>
                <a:gridCol w="3200400"/>
              </a:tblGrid>
              <a:tr h="463731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By the end, you can…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Artifact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FFFFFF"/>
                          </a:solidFill>
                          <a:latin typeface="Arial"/>
                        </a:rPr>
                        <a:t>Engineering decision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Build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Agent + typed tools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Define the loop and provider boundary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Engineer context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Session + providers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Choose injection and persistence boundaries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Assemble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Harness agent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Enable only the batteries the workload needs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Coordinate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Workflow / orchestration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Prefer explicit control when recovery matters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Golden dataset + evaluators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Separate CI gates from quality signals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463734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Operate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OTel + middleware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81818"/>
                          </a:solidFill>
                          <a:latin typeface="Arial"/>
                        </a:rPr>
                        <a:t>Trace every model/tool/state transition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685800" y="4498848"/>
            <a:ext cx="7772400" cy="502920"/>
          </a:xfrm>
          <a:prstGeom prst="roundRect">
            <a:avLst/>
          </a:prstGeom>
          <a:solidFill>
            <a:srgbClr val="F3F1FB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528" y="458114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Target: a recoverable, observable, provider-portable agent—not a one-shot demo.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MENTAL MODEL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LLM Call vs 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143000"/>
            <a:ext cx="3337560" cy="26060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8640" y="1143000"/>
            <a:ext cx="73152" cy="2606040"/>
          </a:xfrm>
          <a:prstGeom prst="rect">
            <a:avLst/>
          </a:prstGeom>
          <a:solidFill>
            <a:srgbClr val="7878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3232" y="1252728"/>
            <a:ext cx="30632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787884"/>
                </a:solidFill>
                <a:latin typeface="Arial"/>
              </a:rPr>
              <a:t>LLM CALL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" y="1618488"/>
            <a:ext cx="3063240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54545F"/>
                </a:solidFill>
                <a:latin typeface="Arial"/>
              </a:rPr>
              <a:t>Input → model → output
Stateless by default
No action semantics
Single failure boundary
Caller owns retries and history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257800" y="1143000"/>
            <a:ext cx="3337560" cy="26060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257800" y="1143000"/>
            <a:ext cx="73152" cy="260604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22392" y="1252728"/>
            <a:ext cx="30632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AGENT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22392" y="1618488"/>
            <a:ext cx="3063240" cy="20391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54545F"/>
                </a:solidFill>
                <a:latin typeface="Arial"/>
              </a:rPr>
              <a:t>Conversation + tools → repeated model calls
Acts through typed interfaces
Mutates session state
Stops on a completion condition
Harness owns lifecycle policy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069080" y="2377440"/>
            <a:ext cx="1005840" cy="0"/>
          </a:xfrm>
          <a:prstGeom prst="line">
            <a:avLst/>
          </a:prstGeom>
          <a:ln w="3810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023360" y="1892807"/>
            <a:ext cx="1097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 i="0">
                <a:solidFill>
                  <a:srgbClr val="D6249F"/>
                </a:solidFill>
                <a:latin typeface="Arial"/>
              </a:rPr>
              <a:t>ADD A LOOP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85800" y="4160520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4242816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6B3FA0"/>
                </a:solidFill>
                <a:latin typeface="Arial"/>
              </a:rPr>
              <a:t>An agent.run() may make N model calls and M tool calls before returning once.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DEFINITION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Agent Anatomy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261872"/>
            <a:ext cx="1796795" cy="713232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409444" y="1618488"/>
            <a:ext cx="219455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647188" y="1261872"/>
            <a:ext cx="1796795" cy="713232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INSTRUCTIONS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462271" y="1618488"/>
            <a:ext cx="219457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4700016" y="1261872"/>
            <a:ext cx="1796795" cy="713232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TOOLS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515100" y="161848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6752844" y="1261872"/>
            <a:ext cx="1796795" cy="713232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LOOP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2267712"/>
            <a:ext cx="777240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800" b="1" i="0">
                <a:solidFill>
                  <a:srgbClr val="4B3FC4"/>
                </a:solidFill>
                <a:latin typeface="Arial"/>
              </a:rPr>
              <a:t>Agent  =  model  +  instructions  +  tools  +  a loop that runs until the task is done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40080" y="3063240"/>
            <a:ext cx="1828800" cy="10515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0080" y="3063240"/>
            <a:ext cx="73152" cy="105156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4671" y="3172968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MODEL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671" y="3538728"/>
            <a:ext cx="1554480" cy="484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Probabilistic planner and generator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651760" y="3063240"/>
            <a:ext cx="1828800" cy="105156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651760" y="3063240"/>
            <a:ext cx="73152" cy="105156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16352" y="3172968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POLICY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16352" y="3538728"/>
            <a:ext cx="1554480" cy="484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Instructions and approval boundaries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663440" y="3063240"/>
            <a:ext cx="1828800" cy="105156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663440" y="3063240"/>
            <a:ext cx="73152" cy="105156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28031" y="3172968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EFFECTORS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828031" y="3538728"/>
            <a:ext cx="1554480" cy="484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Typed functions and external services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675120" y="3063240"/>
            <a:ext cx="1828800" cy="10515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675120" y="3063240"/>
            <a:ext cx="73152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839712" y="3172968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  <a:latin typeface="Arial"/>
              </a:rPr>
              <a:t>RUNTIME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39712" y="3538728"/>
            <a:ext cx="1554480" cy="484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State, termination, persistence, telemetry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LIFECYCLE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The Agent Loop / ReAct Cycle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2879" y="132588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HOST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85800" y="169164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773680" y="132588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276600" y="169164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364480" y="132588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867400" y="169164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7955279" y="132588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458200" y="169164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85800" y="1892807"/>
            <a:ext cx="2590800" cy="0"/>
          </a:xfrm>
          <a:prstGeom prst="line">
            <a:avLst/>
          </a:prstGeom>
          <a:ln w="20320">
            <a:solidFill>
              <a:srgbClr val="4B3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7240" y="1664207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4B3FC4"/>
                </a:solidFill>
                <a:latin typeface="Arial"/>
              </a:rPr>
              <a:t>run(input, session)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276600" y="2331720"/>
            <a:ext cx="2590800" cy="0"/>
          </a:xfrm>
          <a:prstGeom prst="line">
            <a:avLst/>
          </a:prstGeom>
          <a:ln w="2032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368040" y="2103120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D6249F"/>
                </a:solidFill>
                <a:latin typeface="Arial"/>
              </a:rPr>
              <a:t>messages + tool schemas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3276600" y="2770632"/>
            <a:ext cx="2590800" cy="0"/>
          </a:xfrm>
          <a:prstGeom prst="line">
            <a:avLst/>
          </a:prstGeom>
          <a:ln w="2032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68040" y="2542032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09AB5"/>
                </a:solidFill>
                <a:latin typeface="Arial"/>
              </a:rPr>
              <a:t>function call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276600" y="3209544"/>
            <a:ext cx="5181600" cy="0"/>
          </a:xfrm>
          <a:prstGeom prst="line">
            <a:avLst/>
          </a:prstGeom>
          <a:ln w="2032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368040" y="2980944"/>
            <a:ext cx="499871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6B3FA0"/>
                </a:solidFill>
                <a:latin typeface="Arial"/>
              </a:rPr>
              <a:t>validate + invoke</a:t>
            </a:r>
          </a:p>
        </p:txBody>
      </p:sp>
      <p:cxnSp>
        <p:nvCxnSpPr>
          <p:cNvPr id="101" name="Connector 100"/>
          <p:cNvCxnSpPr/>
          <p:nvPr/>
        </p:nvCxnSpPr>
        <p:spPr>
          <a:xfrm flipH="1">
            <a:off x="3276600" y="3648456"/>
            <a:ext cx="5181600" cy="0"/>
          </a:xfrm>
          <a:prstGeom prst="line">
            <a:avLst/>
          </a:prstGeom>
          <a:ln w="20320">
            <a:solidFill>
              <a:srgbClr val="1D8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368040" y="3419856"/>
            <a:ext cx="499871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D8B62"/>
                </a:solidFill>
                <a:latin typeface="Arial"/>
              </a:rPr>
              <a:t>function result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3276600" y="4087368"/>
            <a:ext cx="2590800" cy="0"/>
          </a:xfrm>
          <a:prstGeom prst="line">
            <a:avLst/>
          </a:prstGeom>
          <a:ln w="2032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368040" y="3858768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D6249F"/>
                </a:solidFill>
                <a:latin typeface="Arial"/>
              </a:rPr>
              <a:t>append observation</a:t>
            </a:r>
          </a:p>
        </p:txBody>
      </p:sp>
      <p:cxnSp>
        <p:nvCxnSpPr>
          <p:cNvPr id="105" name="Connector 104"/>
          <p:cNvCxnSpPr/>
          <p:nvPr/>
        </p:nvCxnSpPr>
        <p:spPr>
          <a:xfrm flipH="1">
            <a:off x="3276600" y="4526279"/>
            <a:ext cx="2590800" cy="0"/>
          </a:xfrm>
          <a:prstGeom prst="line">
            <a:avLst/>
          </a:prstGeom>
          <a:ln w="2032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3368040" y="4297679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09AB5"/>
                </a:solidFill>
                <a:latin typeface="Arial"/>
              </a:rPr>
              <a:t>final answer / next call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85800" y="4526280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C9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95528" y="4608576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80" b="1" i="0">
                <a:solidFill>
                  <a:srgbClr val="C93535"/>
                </a:solidFill>
                <a:latin typeface="Arial"/>
              </a:rPr>
              <a:t>Termination is observable: no further tool call, explicit policy stop, budget exhaustion, or failure.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ACTION BOUNDARY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Why Tools Matter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1143000"/>
            <a:ext cx="3931920" cy="32461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4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40" b="0" i="0">
                <a:solidFill>
                  <a:srgbClr val="181818"/>
                </a:solidFill>
                <a:latin typeface="Arial"/>
              </a:rPr>
              <a:t>Tools turn language into typed, auditable effects.</a:t>
            </a:r>
          </a:p>
          <a:p>
            <a:pPr>
              <a:spcAft>
                <a:spcPts val="700"/>
              </a:spcAft>
            </a:pPr>
            <a:r>
              <a:rPr sz="124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40" b="0" i="0">
                <a:solidFill>
                  <a:srgbClr val="181818"/>
                </a:solidFill>
                <a:latin typeface="Arial"/>
              </a:rPr>
              <a:t>Schemas constrain names, arguments, and result shape.</a:t>
            </a:r>
          </a:p>
          <a:p>
            <a:pPr>
              <a:spcAft>
                <a:spcPts val="700"/>
              </a:spcAft>
            </a:pPr>
            <a:r>
              <a:rPr sz="124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40" b="0" i="0">
                <a:solidFill>
                  <a:srgbClr val="181818"/>
                </a:solidFill>
                <a:latin typeface="Arial"/>
              </a:rPr>
              <a:t>Descriptions are routing policy: ambiguity creates bad calls.</a:t>
            </a:r>
          </a:p>
          <a:p>
            <a:pPr>
              <a:spcAft>
                <a:spcPts val="700"/>
              </a:spcAft>
            </a:pPr>
            <a:r>
              <a:rPr sz="124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40" b="0" i="0">
                <a:solidFill>
                  <a:srgbClr val="181818"/>
                </a:solidFill>
                <a:latin typeface="Arial"/>
              </a:rPr>
              <a:t>Small, single-purpose tools compose better than “do_everything”.</a:t>
            </a:r>
          </a:p>
          <a:p>
            <a:pPr>
              <a:spcAft>
                <a:spcPts val="700"/>
              </a:spcAft>
            </a:pPr>
            <a:r>
              <a:rPr sz="124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40" b="0" i="0">
                <a:solidFill>
                  <a:srgbClr val="181818"/>
                </a:solidFill>
                <a:latin typeface="Arial"/>
              </a:rPr>
              <a:t>Side effects require idempotency, authorization, and approval.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754880" y="1143000"/>
            <a:ext cx="3794760" cy="8229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754880" y="1143000"/>
            <a:ext cx="73152" cy="822960"/>
          </a:xfrm>
          <a:prstGeom prst="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19472" y="1252728"/>
            <a:ext cx="3520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D8B62"/>
                </a:solidFill>
                <a:latin typeface="Arial"/>
              </a:rPr>
              <a:t>READ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19472" y="1618488"/>
            <a:ext cx="35204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Search, retrieve, inspect—usually auto-approve.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54880" y="2148840"/>
            <a:ext cx="3794760" cy="82296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54880" y="2148840"/>
            <a:ext cx="73152" cy="82296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919472" y="2258568"/>
            <a:ext cx="3520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COMPUTE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19472" y="2624328"/>
            <a:ext cx="35204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Transform, rank, calculate—bound CPU/time.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754880" y="3154680"/>
            <a:ext cx="3794760" cy="82296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754880" y="3154680"/>
            <a:ext cx="73152" cy="822960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919472" y="3264408"/>
            <a:ext cx="3520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C93535"/>
                </a:solidFill>
                <a:latin typeface="Arial"/>
              </a:rPr>
              <a:t>WRITE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19472" y="3630168"/>
            <a:ext cx="35204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Send, delete, deploy—require policy + human gate.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00600" y="4224528"/>
            <a:ext cx="370332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10328" y="4306824"/>
            <a:ext cx="3483863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60" b="1" i="0">
                <a:solidFill>
                  <a:srgbClr val="6B3FA0"/>
                </a:solidFill>
                <a:latin typeface="Arial"/>
              </a:rPr>
              <a:t>Treat tool output as untrusted input.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INFORMATION STATE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Why Memory and Context Matter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170432"/>
            <a:ext cx="1386230" cy="621792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SYSTEM POLICY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998878" y="148132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236622" y="1170432"/>
            <a:ext cx="1386230" cy="621792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SESSION HISTORY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41140" y="148132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878884" y="1170432"/>
            <a:ext cx="1386230" cy="621792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MEMORY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283403" y="148132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521147" y="1170432"/>
            <a:ext cx="1386230" cy="621792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925665" y="148132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7163409" y="1170432"/>
            <a:ext cx="1386230" cy="621792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TOOL RESULTS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40080" y="2084831"/>
            <a:ext cx="78638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600" b="1" i="0">
                <a:solidFill>
                  <a:srgbClr val="4B3FC4"/>
                </a:solidFill>
                <a:latin typeface="Arial"/>
              </a:rPr>
              <a:t>The model does not “remember”; the runtime reconstructs a context window for every call.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40080" y="2834640"/>
            <a:ext cx="2331720" cy="123444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40080" y="2834640"/>
            <a:ext cx="73152" cy="1234440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04671" y="2944368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C93535"/>
                </a:solidFill>
                <a:latin typeface="Arial"/>
              </a:rPr>
              <a:t>Too little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4671" y="3310128"/>
            <a:ext cx="205740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Repeated questions, lost commitments, poor continuity.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383280" y="2834640"/>
            <a:ext cx="2331720" cy="1234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383280" y="2834640"/>
            <a:ext cx="73152" cy="123444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547872" y="2944368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Too much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47872" y="3310128"/>
            <a:ext cx="205740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Token waste, attention dilution, stale or contradictory state.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6126480" y="2834640"/>
            <a:ext cx="2331720" cy="123444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126480" y="2834640"/>
            <a:ext cx="73152" cy="1234440"/>
          </a:xfrm>
          <a:prstGeom prst="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291072" y="2944368"/>
            <a:ext cx="20574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D8B62"/>
                </a:solidFill>
                <a:latin typeface="Arial"/>
              </a:rPr>
              <a:t>Engineered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91072" y="3310128"/>
            <a:ext cx="205740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Relevant, ordered, attributable, budgeted information.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Context Engineering Levers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09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548640" y="1097280"/>
          <a:ext cx="80467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331720"/>
                <a:gridCol w="4389120"/>
              </a:tblGrid>
              <a:tr h="556260">
                <a:tc>
                  <a:txBody>
                    <a:bodyPr/>
                    <a:lstStyle/>
                    <a:p>
                      <a:r>
                        <a:rPr sz="989" b="1">
                          <a:solidFill>
                            <a:srgbClr val="FFFFFF"/>
                          </a:solidFill>
                          <a:latin typeface="Arial"/>
                        </a:rPr>
                        <a:t>Lever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9" b="1">
                          <a:solidFill>
                            <a:srgbClr val="FFFFFF"/>
                          </a:solidFill>
                          <a:latin typeface="Arial"/>
                        </a:rPr>
                        <a:t>Framework surface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89" b="1">
                          <a:solidFill>
                            <a:srgbClr val="FFFFFF"/>
                          </a:solidFill>
                          <a:latin typeface="Arial"/>
                        </a:rPr>
                        <a:t>Boundary / tradeoff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Sessions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agent.create_session()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Continuity; grows unless compacted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Providers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ContextProvider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Dynamic injection + state mutation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Memory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Provider state / MemoryStore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Selective durability, privacy lifecycle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Skills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SkillsProvider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Cheap catalog; load details on demand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Compaction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CompactionProvider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181818"/>
                          </a:solidFill>
                          <a:latin typeface="Arial"/>
                        </a:rPr>
                        <a:t>Fit budget; lossy by definition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685800" y="4553712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528" y="4636008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Order matters: policy → durable facts → working state → recent conversation → observations.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CONTEXT ECONOMICS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Skills and Progressive Disclosure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097280"/>
            <a:ext cx="2011680" cy="30632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94360" y="1097280"/>
            <a:ext cx="73152" cy="306324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8952" y="1207007"/>
            <a:ext cx="1737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ALWAYS IN CONTEXT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" y="1572768"/>
            <a:ext cx="1737360" cy="2496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54545F"/>
                </a:solidFill>
                <a:latin typeface="Arial"/>
              </a:rPr>
              <a:t>Skill name
One-line description
Trigger hints
Cost scales with catalog entries, not reference size.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108960" y="1097280"/>
            <a:ext cx="2011680" cy="306324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08960" y="1097280"/>
            <a:ext cx="73152" cy="306324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73552" y="1207007"/>
            <a:ext cx="1737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ON DEMAND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73552" y="1572768"/>
            <a:ext cx="1737360" cy="2496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 i="0">
                <a:solidFill>
                  <a:srgbClr val="54545F"/>
                </a:solidFill>
                <a:latin typeface="Arial"/>
              </a:rPr>
              <a:t>SKILL.md instructions
Reference documents
Scripts
Loaded only after the model selects the skill.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623560" y="1097280"/>
            <a:ext cx="2926080" cy="306324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623560" y="1097280"/>
            <a:ext cx="73152" cy="306324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788152" y="1207007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DESIGN CONSEQUENCE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88152" y="1572768"/>
            <a:ext cx="2651760" cy="24963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20" b="0" i="0">
                <a:solidFill>
                  <a:srgbClr val="54545F"/>
                </a:solidFill>
                <a:latin typeface="Arial"/>
              </a:rPr>
              <a:t>Fifty skills become fifty short index lines—not fifty pages.
Apply the same pattern to memory: inject an index first; fetch the full fact only when relevant.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633472" y="2468880"/>
            <a:ext cx="402336" cy="0"/>
          </a:xfrm>
          <a:prstGeom prst="line">
            <a:avLst/>
          </a:prstGeom>
          <a:ln w="2540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148072" y="2468880"/>
            <a:ext cx="402336" cy="0"/>
          </a:xfrm>
          <a:prstGeom prst="line">
            <a:avLst/>
          </a:prstGeom>
          <a:ln w="2540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COMPOSITION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From Primitives to Harness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143000"/>
            <a:ext cx="1386230" cy="621792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AGENT LOOP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998878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236622" y="1143000"/>
            <a:ext cx="1386230" cy="621792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+ HISTORY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41140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878884" y="1143000"/>
            <a:ext cx="1386230" cy="621792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+ COMPACTION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283403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521147" y="1143000"/>
            <a:ext cx="1386230" cy="621792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+ PLANNING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925665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7163409" y="1143000"/>
            <a:ext cx="1386230" cy="621792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+ TELEMETRY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4360" y="2148840"/>
            <a:ext cx="3886200" cy="2331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900"/>
              </a:spcAft>
            </a:pPr>
            <a:r>
              <a:rPr sz="125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50" b="0" i="0">
                <a:solidFill>
                  <a:srgbClr val="181818"/>
                </a:solidFill>
                <a:latin typeface="Arial"/>
              </a:rPr>
              <a:t>Hand-assembly is useful for learning and narrow services.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50" b="0" i="0">
                <a:solidFill>
                  <a:srgbClr val="181818"/>
                </a:solidFill>
                <a:latin typeface="Arial"/>
              </a:rPr>
              <a:t>Production agents repeatedly need the same lifecycle machinery.</a:t>
            </a:r>
          </a:p>
          <a:p>
            <a:pPr>
              <a:spcAft>
                <a:spcPts val="900"/>
              </a:spcAft>
            </a:pPr>
            <a:r>
              <a:rPr sz="1250" b="1" i="0">
                <a:solidFill>
                  <a:srgbClr val="4B3FC4"/>
                </a:solidFill>
                <a:latin typeface="Arial"/>
              </a:rPr>
              <a:t>•  </a:t>
            </a:r>
            <a:r>
              <a:rPr sz="1250" b="0" i="0">
                <a:solidFill>
                  <a:srgbClr val="181818"/>
                </a:solidFill>
                <a:latin typeface="Arial"/>
              </a:rPr>
              <a:t>A harness standardizes defaults without hiding extension points.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754880" y="2057400"/>
            <a:ext cx="3749039" cy="20116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754880" y="2057400"/>
            <a:ext cx="73152" cy="20116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919472" y="2167128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  <a:latin typeface="Arial"/>
              </a:rPr>
              <a:t>HARNESS = EXECUTION POLICY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19472" y="2532888"/>
            <a:ext cx="3474720" cy="14447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20" b="0" i="0">
                <a:solidFill>
                  <a:srgbClr val="54545F"/>
                </a:solidFill>
                <a:latin typeface="Arial"/>
              </a:rPr>
              <a:t>What runs before/after each call
Where state is authoritative
When work persists
How context is budgeted
Which operations require approval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85800" y="4407408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5528" y="448970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Abstraction exists to make the non-model behavior explicit and repeatable.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FRAMEWORK MAP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Microsoft Agent Framework Architecture Overview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12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77240" y="1024128"/>
            <a:ext cx="75895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14400" y="1161288"/>
            <a:ext cx="1965960" cy="310896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APPLICATION / HOST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063240" y="1179576"/>
            <a:ext cx="49834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API · notebook · A2A · Azure Functions · container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77240" y="1737360"/>
            <a:ext cx="75895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914400" y="1874520"/>
            <a:ext cx="196596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AGENTS + ORCHESTRATIONS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063240" y="1892808"/>
            <a:ext cx="49834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Agent · harness agent · sequential · concurrent · handoff · group chat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77240" y="2450592"/>
            <a:ext cx="75895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2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914400" y="2587752"/>
            <a:ext cx="1965960" cy="310896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WORKFLOW RUNTIME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063240" y="2606040"/>
            <a:ext cx="49834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WorkflowBuilder · typed executors · edges · checkpoints · recovery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77240" y="3163824"/>
            <a:ext cx="75895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9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14400" y="3300984"/>
            <a:ext cx="1965960" cy="310896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RUNTIME EXTENSIONS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63240" y="3319272"/>
            <a:ext cx="49834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Tools · context providers · middleware · approvals · OpenTelemetry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777240" y="3877056"/>
            <a:ext cx="758952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8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14400" y="4014216"/>
            <a:ext cx="1965960" cy="310896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MODEL PROVIDERS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063240" y="4032504"/>
            <a:ext cx="4983480" cy="2468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Foundry · OpenAI · Azure OpenAI · Anthropic · Ollama · Bedrock · Gemini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M1 · BOUNDARY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Provider-Agnostic Model Switching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78992"/>
            <a:ext cx="4160520" cy="324612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1152144"/>
            <a:ext cx="3867911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workshop_utils/clients.py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" y="1389888"/>
            <a:ext cx="3904487" cy="28437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 Mono"/>
              </a:rPr>
              <a:t>def get_chat_client():
    provider = os.getenv("MODEL_PROVIDER", "foundry")
    if provider == "foundry":
        return FoundryChatClient(...)
    if provider == "openai":
        return OpenAIChatClient(...)
    if provider == "azure-openai":
        return AzureOpenAIChatClient(...)
    raise ValueError(f"Unsupported: {provider}")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983480" y="1078992"/>
            <a:ext cx="3611880" cy="96012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83480" y="1078992"/>
            <a:ext cx="73152" cy="96012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48072" y="1188719"/>
            <a:ext cx="3337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ONE SWITCH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48072" y="1554480"/>
            <a:ext cx="333756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MODEL_PROVIDER changes deployment—not agent code.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983480" y="2221992"/>
            <a:ext cx="3611880" cy="96012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983480" y="2221992"/>
            <a:ext cx="73152" cy="96012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148072" y="2331720"/>
            <a:ext cx="3337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STABLE CONTRACT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48072" y="2697480"/>
            <a:ext cx="333756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Agent consumes ChatClient; provider auth/options stay at the edge.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983480" y="3364992"/>
            <a:ext cx="3611880" cy="96012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983480" y="3364992"/>
            <a:ext cx="73152" cy="96012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48072" y="3474720"/>
            <a:ext cx="3337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TEST THE SEAMS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48072" y="3840480"/>
            <a:ext cx="333756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Structured output, tool schemas, streaming, and usage metadata vary.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M1 · CONSTRUCTION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First Agent: Minimal Code Walkthrough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51560"/>
            <a:ext cx="4663440" cy="338328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1124712"/>
            <a:ext cx="4370831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minimal agent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" y="1362456"/>
            <a:ext cx="4407407" cy="2980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ptos Mono"/>
              </a:rPr>
              <a:t>from agent_framework import Agent
from workshop_utils.clients import get_chat_client
agent = Agent(
    client=get_chat_client(),
    name="architecture-reviewer",
    instructions=(
        "Review designs for failure boundaries, "
        "state ownership, and observability."
    ),
)
response = await agent.run("Review this agent topology.")
print(response.text)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440680" y="1051560"/>
            <a:ext cx="3154680" cy="91440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40680" y="1051560"/>
            <a:ext cx="73152" cy="91440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605272" y="1161288"/>
            <a:ext cx="2880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client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05272" y="1527048"/>
            <a:ext cx="28803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The provider boundary and model transport.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440680" y="2148840"/>
            <a:ext cx="3154680" cy="91440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440680" y="2148840"/>
            <a:ext cx="73152" cy="91440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05272" y="2258568"/>
            <a:ext cx="2880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instructions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05272" y="2624328"/>
            <a:ext cx="28803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Durable behavior policy—not task input.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440680" y="3246120"/>
            <a:ext cx="3154680" cy="91440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40680" y="3246120"/>
            <a:ext cx="73152" cy="91440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05272" y="3355848"/>
            <a:ext cx="28803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run()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05272" y="3721608"/>
            <a:ext cx="28803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One host turn; internally N service calls.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68112" y="4343400"/>
            <a:ext cx="3090672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77840" y="4425696"/>
            <a:ext cx="2871215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19" b="1" i="0">
                <a:solidFill>
                  <a:srgbClr val="6B3FA0"/>
                </a:solidFill>
                <a:latin typeface="Arial"/>
              </a:rPr>
              <a:t>Name agents for traces and delegation.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M1 · RESPONSE SEMANTICS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Streaming vs Non-Streaming Execution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97280"/>
            <a:ext cx="3886200" cy="132588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1170432"/>
            <a:ext cx="359359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buffered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" y="1408176"/>
            <a:ext cx="3630168" cy="92354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 Mono"/>
              </a:rPr>
              <a:t>result = await agent.run(prompt)
print(result.text)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48640" y="2743200"/>
            <a:ext cx="3886200" cy="150876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94944" y="2816352"/>
            <a:ext cx="359359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streaming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6656" y="3054096"/>
            <a:ext cx="3630168" cy="110642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Aptos Mono"/>
              </a:rPr>
              <a:t>async for update in agent.run(prompt, stream=True):
    if update.text:
        print(update.text, end="", flush=True)</a:t>
            </a:r>
          </a:p>
        </p:txBody>
      </p:sp>
      <p:graphicFrame>
        <p:nvGraphicFramePr>
          <p:cNvPr id="91" name="Table 90"/>
          <p:cNvGraphicFramePr>
            <a:graphicFrameLocks noGrp="1"/>
          </p:cNvGraphicFramePr>
          <p:nvPr/>
        </p:nvGraphicFramePr>
        <p:xfrm>
          <a:off x="4709160" y="1097280"/>
          <a:ext cx="38862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280160"/>
                <a:gridCol w="1280160"/>
              </a:tblGrid>
              <a:tr h="52578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Concern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Buffered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Streaming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First token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After completion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As produced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UX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Batch / jobs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Interactive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Errors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Single terminal path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Partial output possible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Persistence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End-of-turn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Still per service call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Consumers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Simple result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Backpressure + cancellation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</a:tbl>
          </a:graphicData>
        </a:graphic>
      </p:graphicFrame>
      <p:sp>
        <p:nvSpPr>
          <p:cNvPr id="92" name="Rounded Rectangle 91"/>
          <p:cNvSpPr/>
          <p:nvPr/>
        </p:nvSpPr>
        <p:spPr>
          <a:xfrm>
            <a:off x="685800" y="4498848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95528" y="458114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Streaming changes delivery semantics; it does not bypass the agent loop.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M2 · TYPED EFFECTS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Function Tools: Anatomy of a Tool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78992"/>
            <a:ext cx="4480560" cy="338328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1152144"/>
            <a:ext cx="418795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schema generated from signature + docstring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" y="1389888"/>
            <a:ext cx="4224528" cy="29809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tos Mono"/>
              </a:rPr>
              <a:t>from agent_framework import tool
@tool(approval_mode="never_require")
def get_order(order_id: str) -&gt; dict:
    """Return status and ETA for one order.
    Args:
        order_id: Canonical order identifier.
    """
    return order_store.lookup(order_id)
agent = Agent(client=client, tools=[get_order])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03520" y="1078992"/>
            <a:ext cx="3246120" cy="8686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303520" y="1078992"/>
            <a:ext cx="73152" cy="86868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68112" y="1188719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NAME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468112" y="1554480"/>
            <a:ext cx="2971800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Routing token; make it precise and stable.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303520" y="2103120"/>
            <a:ext cx="3246120" cy="86868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303520" y="2103120"/>
            <a:ext cx="73152" cy="86868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68112" y="2212848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SCHEMA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468112" y="2578608"/>
            <a:ext cx="2971800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Types constrain arguments; validate again at runtime.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303520" y="3127248"/>
            <a:ext cx="3246120" cy="86868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303520" y="3127248"/>
            <a:ext cx="73152" cy="86868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68112" y="3236976"/>
            <a:ext cx="29718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DESCRIPTION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468112" y="3602736"/>
            <a:ext cx="2971800" cy="30175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Tells the model when—and when not—to call.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330952" y="4160520"/>
            <a:ext cx="3191256" cy="502920"/>
          </a:xfrm>
          <a:prstGeom prst="roundRect">
            <a:avLst/>
          </a:prstGeom>
          <a:solidFill>
            <a:srgbClr val="EAF6F0"/>
          </a:solidFill>
          <a:ln w="12700">
            <a:solidFill>
              <a:srgbClr val="1D8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40680" y="4242816"/>
            <a:ext cx="297180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40" b="1" i="0">
                <a:solidFill>
                  <a:srgbClr val="1D8B62"/>
                </a:solidFill>
                <a:latin typeface="Arial"/>
              </a:rPr>
              <a:t>Return machine-readable results.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M2 · CONTROL POINT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Tool-Calling Lifecycle and Approvals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17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2879" y="123444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85800" y="160020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773680" y="123444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RUNTIME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276600" y="160020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364480" y="123444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POLICY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867400" y="160020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7955279" y="123444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TOOL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458200" y="160020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85800" y="1801368"/>
            <a:ext cx="2590800" cy="0"/>
          </a:xfrm>
          <a:prstGeom prst="line">
            <a:avLst/>
          </a:prstGeom>
          <a:ln w="20320">
            <a:solidFill>
              <a:srgbClr val="4B3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7240" y="1572768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4B3FC4"/>
                </a:solidFill>
                <a:latin typeface="Arial"/>
              </a:rPr>
              <a:t>call(name, args)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276600" y="2240280"/>
            <a:ext cx="2590800" cy="0"/>
          </a:xfrm>
          <a:prstGeom prst="line">
            <a:avLst/>
          </a:prstGeom>
          <a:ln w="2032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368040" y="2011680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D6249F"/>
                </a:solidFill>
                <a:latin typeface="Arial"/>
              </a:rPr>
              <a:t>authorize + approval?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3276600" y="2679192"/>
            <a:ext cx="2590800" cy="0"/>
          </a:xfrm>
          <a:prstGeom prst="line">
            <a:avLst/>
          </a:prstGeom>
          <a:ln w="20320">
            <a:solidFill>
              <a:srgbClr val="C9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68040" y="2450592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C93535"/>
                </a:solidFill>
                <a:latin typeface="Arial"/>
              </a:rPr>
              <a:t>approve / deny / edit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276600" y="3118104"/>
            <a:ext cx="5181600" cy="0"/>
          </a:xfrm>
          <a:prstGeom prst="line">
            <a:avLst/>
          </a:prstGeom>
          <a:ln w="2032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368040" y="2889504"/>
            <a:ext cx="499871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09AB5"/>
                </a:solidFill>
                <a:latin typeface="Arial"/>
              </a:rPr>
              <a:t>validated invocation</a:t>
            </a:r>
          </a:p>
        </p:txBody>
      </p:sp>
      <p:cxnSp>
        <p:nvCxnSpPr>
          <p:cNvPr id="101" name="Connector 100"/>
          <p:cNvCxnSpPr/>
          <p:nvPr/>
        </p:nvCxnSpPr>
        <p:spPr>
          <a:xfrm flipH="1">
            <a:off x="3276600" y="3557016"/>
            <a:ext cx="5181600" cy="0"/>
          </a:xfrm>
          <a:prstGeom prst="line">
            <a:avLst/>
          </a:prstGeom>
          <a:ln w="20320">
            <a:solidFill>
              <a:srgbClr val="1D8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368040" y="3328416"/>
            <a:ext cx="499871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D8B62"/>
                </a:solidFill>
                <a:latin typeface="Arial"/>
              </a:rPr>
              <a:t>result / exception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685800" y="3995928"/>
            <a:ext cx="2590800" cy="0"/>
          </a:xfrm>
          <a:prstGeom prst="line">
            <a:avLst/>
          </a:prstGeom>
          <a:ln w="2032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77240" y="3767328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6B3FA0"/>
                </a:solidFill>
                <a:latin typeface="Arial"/>
              </a:rPr>
              <a:t>function_result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85800" y="4233672"/>
            <a:ext cx="2331720" cy="310896"/>
          </a:xfrm>
          <a:prstGeom prst="round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always_require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401568" y="4233672"/>
            <a:ext cx="2331720" cy="310896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never_require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108192" y="4233672"/>
            <a:ext cx="2331720" cy="310896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policy-based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7240" y="4590288"/>
            <a:ext cx="75895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80" b="0" i="0">
                <a:solidFill>
                  <a:srgbClr val="54545F"/>
                </a:solidFill>
                <a:latin typeface="Arial"/>
              </a:rPr>
              <a:t>High-impact writes  ·  safe deterministic reads  ·  runtime rule by identity, arguments, environment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M2 · PLANNING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Multi-Tool Composition Patterns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18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548640" y="1078992"/>
          <a:ext cx="80467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234440"/>
                <a:gridCol w="2514600"/>
                <a:gridCol w="2880360"/>
              </a:tblGrid>
              <a:tr h="658368"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Shape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Use when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Primary failure mode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Serial dependency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A → B → C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Output feeds next call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Cascading bad argument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Parallel reads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A ∥ B ∥ 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Independent evidence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Rate limit / partial failure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Read–decide–write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R → policy → W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Side effect follows evidence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Stale read / race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Compensating action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W → verify → undo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No distributed transaction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Compensation also fails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685800" y="4553712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C9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528" y="4636008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80" b="1" i="0">
                <a:solidFill>
                  <a:srgbClr val="C93535"/>
                </a:solidFill>
                <a:latin typeface="Arial"/>
              </a:rPr>
              <a:t>Do not encode critical ordering only in prose: use a workflow when sequence is a correctness property.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M2 · PROTOCOL BOUNDARY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MCP / External Tool Integration Considerations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19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97280"/>
            <a:ext cx="2468880" cy="1325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8640" y="1097280"/>
            <a:ext cx="73152" cy="132588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3232" y="1207007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DISCOVERY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" y="1572768"/>
            <a:ext cx="21945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Server exposes tool catalog and schemas. Cache carefully; capabilities can change.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337560" y="1097280"/>
            <a:ext cx="2468880" cy="132588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337560" y="1097280"/>
            <a:ext cx="73152" cy="132588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02152" y="1207007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TRANSPORT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02152" y="1572768"/>
            <a:ext cx="21945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stdio, HTTP, or WebSocket. Bound startup, request, and idle timeouts.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126480" y="1097280"/>
            <a:ext cx="2468880" cy="132588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26480" y="1097280"/>
            <a:ext cx="73152" cy="1325880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91072" y="1207007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C93535"/>
                </a:solidFill>
                <a:latin typeface="Arial"/>
              </a:rPr>
              <a:t>TRUST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91072" y="1572768"/>
            <a:ext cx="21945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Remote descriptions and results are untrusted. Apply allowlists and output limits.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8640" y="2743200"/>
            <a:ext cx="2468880" cy="1325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8640" y="2743200"/>
            <a:ext cx="73152" cy="132588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" y="2852928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  <a:latin typeface="Arial"/>
              </a:rPr>
              <a:t>IDENTITY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3232" y="3218688"/>
            <a:ext cx="21945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Propagate least-privilege credentials; do not hand the model raw secrets.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337560" y="2743200"/>
            <a:ext cx="2468880" cy="132588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37560" y="2743200"/>
            <a:ext cx="73152" cy="132588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02152" y="2852928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VERSIONING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02152" y="3218688"/>
            <a:ext cx="21945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Pin protocol/package compatibility and test schema drift.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26480" y="2743200"/>
            <a:ext cx="2468880" cy="132588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126480" y="2743200"/>
            <a:ext cx="73152" cy="1325880"/>
          </a:xfrm>
          <a:prstGeom prst="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291072" y="2852928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D8B62"/>
                </a:solidFill>
                <a:latin typeface="Arial"/>
              </a:rPr>
              <a:t>OBSERVABILITY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91072" y="3218688"/>
            <a:ext cx="21945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Trace server, tool, arguments metadata, latency, and sanitized result size.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85800" y="4434840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5528" y="4517136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MCP standardizes connectivity—not authorization, safety, or reliability.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M3 · STATE BOUNDARY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Sessions and Persistent Conversational State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78992"/>
            <a:ext cx="3977639" cy="196596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4944" y="1152144"/>
            <a:ext cx="3685031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session reuse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" y="1389888"/>
            <a:ext cx="3721607" cy="1563623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 Mono"/>
              </a:rPr>
              <a:t>session = agent.create_session()
await agent.run("My region is eu-west.", session=session)
await agent.run("Use the same region.", session=session)
# New session: no conversational continuity
fresh = agent.create_session()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800600" y="1078992"/>
            <a:ext cx="3749039" cy="96012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800600" y="1078992"/>
            <a:ext cx="73152" cy="96012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965192" y="1188719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SESSION HISTORY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65192" y="1554480"/>
            <a:ext cx="3474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Turn-by-turn messages; useful but unbounded and ephemeral unless persisted.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800600" y="2221992"/>
            <a:ext cx="3749039" cy="96012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800600" y="2221992"/>
            <a:ext cx="73152" cy="96012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65192" y="2331720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SESSION STATE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65192" y="2697480"/>
            <a:ext cx="3474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Provider-owned structured state: todos, mode, memory indexes.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800600" y="3364992"/>
            <a:ext cx="3749039" cy="96012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800600" y="3364992"/>
            <a:ext cx="73152" cy="96012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65192" y="3474720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6B3FA0"/>
                </a:solidFill>
                <a:latin typeface="Arial"/>
              </a:rPr>
              <a:t>DURABLE STORE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65192" y="3840480"/>
            <a:ext cx="3474720" cy="3931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External lifecycle: retention, encryption, tenant isolation, restore.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94360" y="3977639"/>
            <a:ext cx="38862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D62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4088" y="4059935"/>
            <a:ext cx="36667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40" b="1" i="0">
                <a:solidFill>
                  <a:srgbClr val="D6249F"/>
                </a:solidFill>
                <a:latin typeface="Arial"/>
              </a:rPr>
              <a:t>Agent object = behavior; session = one continuity boundary.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M3 · INJECTION + MUTATION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ContextProvider Deep Dive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1024128"/>
            <a:ext cx="4937760" cy="361188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" y="1097280"/>
            <a:ext cx="464515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two hooks around the loop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6" y="1335024"/>
            <a:ext cx="4681728" cy="32095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65" b="0" i="0">
                <a:solidFill>
                  <a:srgbClr val="FFFFFF"/>
                </a:solidFill>
                <a:latin typeface="Aptos Mono"/>
              </a:rPr>
              <a:t>class UserMemoryProvider(ContextProvider):
    DEFAULT_SOURCE_ID = "user_memory"
    async def before_run(self, *, context, state, **_):
        if name := state.get("user_name"):
            context.extend_instructions(
                self.source_id, f"User name: {name}"
            )
    async def after_run(self, *, context, state, **_):
        for msg in context.input_messages:
            if name := extract_name(msg.text):
                state["user_name"] = name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669280" y="1024128"/>
            <a:ext cx="2926080" cy="132588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69280" y="1024128"/>
            <a:ext cx="73152" cy="132588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833872" y="1133856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before_run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33872" y="1499616"/>
            <a:ext cx="26517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Read provider state and inject attributable instructions/messages into the next call.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669280" y="2578608"/>
            <a:ext cx="2926080" cy="132588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669280" y="2578608"/>
            <a:ext cx="73152" cy="132588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833872" y="2688336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after_run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833872" y="3054096"/>
            <a:ext cx="2651760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Observe the exchange and mutate selective state after the turn.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5696712" y="4160520"/>
            <a:ext cx="2871216" cy="502920"/>
          </a:xfrm>
          <a:prstGeom prst="roundRect">
            <a:avLst/>
          </a:prstGeom>
          <a:solidFill>
            <a:srgbClr val="E9F6F8"/>
          </a:solidFill>
          <a:ln w="12700">
            <a:solidFill>
              <a:srgbClr val="109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806440" y="4242816"/>
            <a:ext cx="2651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19" b="1" i="0">
                <a:solidFill>
                  <a:srgbClr val="109AB5"/>
                </a:solidFill>
                <a:latin typeface="Arial"/>
              </a:rPr>
              <a:t>Use source_id for provenance.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M3 · PERSISTENCE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Durable Memory Design Patterns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22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548640" y="1078992"/>
          <a:ext cx="80467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20240"/>
                <a:gridCol w="2011680"/>
                <a:gridCol w="2697480"/>
              </a:tblGrid>
              <a:tr h="649224"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Persist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Inject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1">
                          <a:solidFill>
                            <a:srgbClr val="FFFFFF"/>
                          </a:solidFill>
                          <a:latin typeface="Arial"/>
                        </a:rPr>
                        <a:t>Risk / mitigation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Profile facts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Stable preferences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Small verified subset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Stale facts → timestamp + edit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Episodic summary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Outcome + decisions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Relevant episode only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Lossy → retain source pointer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Semantic index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Chunks + embeddings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Top-k with citations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Poisoning → trust metadata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File memory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Human-readable files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Index then fetch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 b="0">
                          <a:solidFill>
                            <a:srgbClr val="181818"/>
                          </a:solidFill>
                          <a:latin typeface="Arial"/>
                        </a:rPr>
                        <a:t>Tenant leakage → scoped roots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685800" y="4498848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528" y="458114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Progressive disclosure: expose a compact memory index; load the full record only when selected.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M3 · TOKEN BUDGET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Compaction and Context-Window Management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143000"/>
            <a:ext cx="1386230" cy="621792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MEASURE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998878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236622" y="1143000"/>
            <a:ext cx="1386230" cy="621792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PRIORITIZE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41140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878884" y="1143000"/>
            <a:ext cx="1386230" cy="621792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SUMMARIZE / TRIM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283403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521147" y="1143000"/>
            <a:ext cx="1386230" cy="621792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PERSIST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925665" y="1453896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7163409" y="1143000"/>
            <a:ext cx="1386230" cy="621792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REHYDRATE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4360" y="2148840"/>
            <a:ext cx="2423160" cy="19659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94360" y="2148840"/>
            <a:ext cx="73152" cy="196596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8952" y="2258568"/>
            <a:ext cx="21488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BEFORE EACH CALL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8952" y="2624328"/>
            <a:ext cx="2148840" cy="13990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80" b="0" i="0">
                <a:solidFill>
                  <a:srgbClr val="54545F"/>
                </a:solidFill>
                <a:latin typeface="Arial"/>
              </a:rPr>
              <a:t>Fit outgoing messages to max_context_window_tokens.
Preserve policy, active todos, recent tool evidence, and unresolved commitments.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364992" y="2148840"/>
            <a:ext cx="2423160" cy="196596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364992" y="2148840"/>
            <a:ext cx="73152" cy="196596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529584" y="2258568"/>
            <a:ext cx="21488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AFTER EACH TURN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529584" y="2624328"/>
            <a:ext cx="2148840" cy="13990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80" b="0" i="0">
                <a:solidFill>
                  <a:srgbClr val="54545F"/>
                </a:solidFill>
                <a:latin typeface="Arial"/>
              </a:rPr>
              <a:t>Compact persisted history in place so future calls start from a bounded representation.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126480" y="2148840"/>
            <a:ext cx="2423160" cy="196596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126480" y="2148840"/>
            <a:ext cx="73152" cy="1965960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91072" y="2258568"/>
            <a:ext cx="21488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C93535"/>
                </a:solidFill>
                <a:latin typeface="Arial"/>
              </a:rPr>
              <a:t>FAILURE MODES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91072" y="2624328"/>
            <a:ext cx="2148840" cy="13990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40" b="0" i="0">
                <a:solidFill>
                  <a:srgbClr val="54545F"/>
                </a:solidFill>
                <a:latin typeface="Arial"/>
              </a:rPr>
              <a:t>Summary drops IDs or constraints; stale summary outranks fresh evidence; no token budget means compaction is off.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85800" y="4407408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5528" y="448970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6B3FA0"/>
                </a:solidFill>
                <a:latin typeface="Arial"/>
              </a:rPr>
              <a:t>Compaction is lossy compression—evaluate task continuity, not just token count.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M4 · BATTERIES INCLUDED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Harness Overview: create_harness_agent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1051560"/>
            <a:ext cx="4297680" cy="352044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" y="1124712"/>
            <a:ext cx="400507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one factory; explicit policy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6" y="1362456"/>
            <a:ext cx="4041648" cy="31181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65" b="0" i="0">
                <a:solidFill>
                  <a:srgbClr val="FFFFFF"/>
                </a:solidFill>
                <a:latin typeface="Aptos Mono"/>
              </a:rPr>
              <a:t>agent = create_harness_agent(
    client=get_chat_client(),
    name="researcher",
    instructions=POLICY,
    default_options={"store": False},
    max_context_window_tokens=64_000,
    max_tool_result_tokens=8_000,
    memory_path=MEMORY,
    skills_path=SKILLS,
    enable_background_agents=True,
    autonomous=True,
)</a:t>
            </a:r>
          </a:p>
        </p:txBody>
      </p:sp>
      <p:graphicFrame>
        <p:nvGraphicFramePr>
          <p:cNvPr id="88" name="Table 87"/>
          <p:cNvGraphicFramePr>
            <a:graphicFrameLocks noGrp="1"/>
          </p:cNvGraphicFramePr>
          <p:nvPr/>
        </p:nvGraphicFramePr>
        <p:xfrm>
          <a:off x="5047488" y="1051560"/>
          <a:ext cx="35661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1993392"/>
              </a:tblGrid>
              <a:tr h="39116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Battery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Purpose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Function invocation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Tool loop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History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Local continuity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Compaction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Token budget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TodoProvider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Plan state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AgentModeProvider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Plan / execute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File memory + access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Durable files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SkillsProvider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On-demand expertise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OpenTelemetry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30" b="0">
                          <a:solidFill>
                            <a:srgbClr val="181818"/>
                          </a:solidFill>
                          <a:latin typeface="Arial"/>
                        </a:rPr>
                        <a:t>Trace lifecycle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M4 · DURABILITY CONTRACT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Local-Authoritative History and Crash Safety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25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2879" y="118872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HOST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685800" y="155448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773680" y="118872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HARNESS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276600" y="155448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364480" y="118872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867400" y="155448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7955279" y="1188720"/>
            <a:ext cx="10058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LOCAL STORE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8458200" y="1554480"/>
            <a:ext cx="0" cy="2743200"/>
          </a:xfrm>
          <a:prstGeom prst="line">
            <a:avLst/>
          </a:prstGeom>
          <a:ln>
            <a:solidFill>
              <a:srgbClr val="C8C8D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85800" y="1755648"/>
            <a:ext cx="2590800" cy="0"/>
          </a:xfrm>
          <a:prstGeom prst="line">
            <a:avLst/>
          </a:prstGeom>
          <a:ln w="20320">
            <a:solidFill>
              <a:srgbClr val="4B3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7240" y="1527048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4B3FC4"/>
                </a:solidFill>
                <a:latin typeface="Arial"/>
              </a:rPr>
              <a:t>run(turn)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276600" y="2194560"/>
            <a:ext cx="2590800" cy="0"/>
          </a:xfrm>
          <a:prstGeom prst="line">
            <a:avLst/>
          </a:prstGeom>
          <a:ln w="2032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368040" y="1965960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D6249F"/>
                </a:solidFill>
                <a:latin typeface="Arial"/>
              </a:rPr>
              <a:t>call #1  store=False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3276600" y="2633472"/>
            <a:ext cx="2590800" cy="0"/>
          </a:xfrm>
          <a:prstGeom prst="line">
            <a:avLst/>
          </a:prstGeom>
          <a:ln w="2032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3368040" y="2404872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09AB5"/>
                </a:solidFill>
                <a:latin typeface="Arial"/>
              </a:rPr>
              <a:t>tool request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3276600" y="3072384"/>
            <a:ext cx="5181600" cy="0"/>
          </a:xfrm>
          <a:prstGeom prst="line">
            <a:avLst/>
          </a:prstGeom>
          <a:ln w="20320">
            <a:solidFill>
              <a:srgbClr val="1D8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3368040" y="2843784"/>
            <a:ext cx="499871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D8B62"/>
                </a:solidFill>
                <a:latin typeface="Arial"/>
              </a:rPr>
              <a:t>persist immediately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3276600" y="3511296"/>
            <a:ext cx="2590800" cy="0"/>
          </a:xfrm>
          <a:prstGeom prst="line">
            <a:avLst/>
          </a:prstGeom>
          <a:ln w="2032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3368040" y="3282696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D6249F"/>
                </a:solidFill>
                <a:latin typeface="Arial"/>
              </a:rPr>
              <a:t>call #2 + tool result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3276600" y="3950208"/>
            <a:ext cx="2590800" cy="0"/>
          </a:xfrm>
          <a:prstGeom prst="line">
            <a:avLst/>
          </a:prstGeom>
          <a:ln w="2032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3368040" y="3721608"/>
            <a:ext cx="2407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09AB5"/>
                </a:solidFill>
                <a:latin typeface="Arial"/>
              </a:rPr>
              <a:t>final response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3276600" y="4389120"/>
            <a:ext cx="5181600" cy="0"/>
          </a:xfrm>
          <a:prstGeom prst="line">
            <a:avLst/>
          </a:prstGeom>
          <a:ln w="20320">
            <a:solidFill>
              <a:srgbClr val="1D8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3368040" y="4160520"/>
            <a:ext cx="4998719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1D8B62"/>
                </a:solidFill>
                <a:latin typeface="Arial"/>
              </a:rPr>
              <a:t>persist immediately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94360" y="4416552"/>
            <a:ext cx="379476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4088" y="4498848"/>
            <a:ext cx="357530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19" b="1" i="0">
                <a:solidFill>
                  <a:srgbClr val="4B3FC4"/>
                </a:solidFill>
                <a:latin typeface="Arial"/>
              </a:rPr>
              <a:t>Local history is authoritative for compaction, restore, and provider portability.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617720" y="4416552"/>
            <a:ext cx="3931920" cy="502920"/>
          </a:xfrm>
          <a:prstGeom prst="roundRect">
            <a:avLst/>
          </a:prstGeom>
          <a:solidFill>
            <a:srgbClr val="EAF6F0"/>
          </a:solidFill>
          <a:ln w="12700">
            <a:solidFill>
              <a:srgbClr val="1D8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27448" y="4498848"/>
            <a:ext cx="3712463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00" b="1" i="0">
                <a:solidFill>
                  <a:srgbClr val="1D8B62"/>
                </a:solidFill>
                <a:latin typeface="Arial"/>
              </a:rPr>
              <a:t>require_per_service_call_history_persistence=True limits crash loss to the in-flight call.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M4 · EXPLICIT WORK STATE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TodoProvider and the Planning Model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97280"/>
            <a:ext cx="2377440" cy="324612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8640" y="1097280"/>
            <a:ext cx="73152" cy="324612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3232" y="1207007"/>
            <a:ext cx="2103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TOOLS INJECTED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" y="1572768"/>
            <a:ext cx="2103120" cy="26791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0" i="0">
                <a:solidFill>
                  <a:srgbClr val="54545F"/>
                </a:solidFill>
                <a:latin typeface="Arial"/>
              </a:rPr>
              <a:t>todos_add
todos_complete
todos_remove
todos_get_remaining
todos_get_all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383280" y="1097280"/>
            <a:ext cx="2377440" cy="324612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383280" y="1097280"/>
            <a:ext cx="73152" cy="324612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547872" y="1207007"/>
            <a:ext cx="2103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STATE MODEL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47872" y="1572768"/>
            <a:ext cx="2103120" cy="26791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20" b="0" i="0">
                <a:solidFill>
                  <a:srgbClr val="54545F"/>
                </a:solidFill>
                <a:latin typeface="Arial"/>
              </a:rPr>
              <a:t>Todo state belongs to the session.
The current list is re-injected before every model call, so plan state survives attention shifts.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217920" y="1097280"/>
            <a:ext cx="2377440" cy="324612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217920" y="1097280"/>
            <a:ext cx="73152" cy="324612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82512" y="1207007"/>
            <a:ext cx="2103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HOST CONTROL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82512" y="1572768"/>
            <a:ext cx="2103120" cy="26791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 i="0">
                <a:solidFill>
                  <a:srgbClr val="54545F"/>
                </a:solidFill>
                <a:latin typeface="Arial"/>
              </a:rPr>
              <a:t>Render progress externally.
Resume unfinished work.
Enforce limits.
Require evidence before completion.
Stop when no items remain.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85800" y="4498848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95528" y="458114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6B3FA0"/>
                </a:solidFill>
                <a:latin typeface="Arial"/>
              </a:rPr>
              <a:t>A todo list is observable control state—not proof that the work is correct.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M4 · STATE MACHINE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Plan vs Execute Mode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27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31520" y="1234440"/>
            <a:ext cx="3017520" cy="2240280"/>
          </a:xfrm>
          <a:prstGeom prst="roundRect">
            <a:avLst/>
          </a:prstGeom>
          <a:solidFill>
            <a:srgbClr val="E9F6F8"/>
          </a:solidFill>
          <a:ln w="12700">
            <a:solidFill>
              <a:srgbClr val="109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4400" y="1463040"/>
            <a:ext cx="2651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100" b="1" i="0">
                <a:solidFill>
                  <a:srgbClr val="109AB5"/>
                </a:solidFill>
                <a:latin typeface="Arial"/>
              </a:rPr>
              <a:t>PLAN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0120" y="205740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 i="0">
                <a:solidFill>
                  <a:srgbClr val="54545F"/>
                </a:solidFill>
                <a:latin typeface="Arial"/>
              </a:rPr>
              <a:t>Explore constraints
Create / revise todos
No irreversible side effects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94960" y="1234440"/>
            <a:ext cx="3017520" cy="2240280"/>
          </a:xfrm>
          <a:prstGeom prst="roundRect">
            <a:avLst/>
          </a:prstGeom>
          <a:solidFill>
            <a:srgbClr val="EAF6F0"/>
          </a:solidFill>
          <a:ln w="12700">
            <a:solidFill>
              <a:srgbClr val="1D8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77840" y="1463040"/>
            <a:ext cx="26517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100" b="1" i="0">
                <a:solidFill>
                  <a:srgbClr val="1D8B62"/>
                </a:solidFill>
                <a:latin typeface="Arial"/>
              </a:rPr>
              <a:t>EXECUTE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23560" y="2057400"/>
            <a:ext cx="25603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 i="0">
                <a:solidFill>
                  <a:srgbClr val="54545F"/>
                </a:solidFill>
                <a:latin typeface="Arial"/>
              </a:rPr>
              <a:t>Perform approved work
Complete todos with evidence
Autonomous loop may continue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3794760" y="1874519"/>
            <a:ext cx="1527048" cy="0"/>
          </a:xfrm>
          <a:prstGeom prst="line">
            <a:avLst/>
          </a:prstGeom>
          <a:ln w="3810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3794760" y="2880360"/>
            <a:ext cx="1527048" cy="0"/>
          </a:xfrm>
          <a:prstGeom prst="line">
            <a:avLst/>
          </a:prstGeom>
          <a:ln w="2540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977639" y="1417320"/>
            <a:ext cx="11887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 i="0">
                <a:solidFill>
                  <a:srgbClr val="D6249F"/>
                </a:solidFill>
                <a:latin typeface="Arial"/>
              </a:rPr>
              <a:t>APPROVE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31920" y="3017520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1" i="0">
                <a:solidFill>
                  <a:srgbClr val="6B3FA0"/>
                </a:solidFill>
                <a:latin typeface="Arial"/>
              </a:rPr>
              <a:t>REPLAN / PAUSE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77240" y="3977639"/>
            <a:ext cx="758952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86968" y="4059935"/>
            <a:ext cx="737006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69" b="1" i="0">
                <a:solidFill>
                  <a:srgbClr val="4B3FC4"/>
                </a:solidFill>
                <a:latin typeface="Arial"/>
              </a:rPr>
              <a:t>External mode changes inject a notice on the next turn—history alone may anchor the model to its previous mode.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M4 · DURABLE WORKSPACE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File Memory and File Access Providers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28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97280"/>
            <a:ext cx="3749039" cy="26517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8640" y="1097280"/>
            <a:ext cx="73152" cy="265176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3232" y="1207007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FileMemoryProvider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" y="1572768"/>
            <a:ext cx="3474720" cy="20848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30" b="0" i="0">
                <a:solidFill>
                  <a:srgbClr val="54545F"/>
                </a:solidFill>
                <a:latin typeface="Arial"/>
              </a:rPr>
              <a:t>Durable memory across sessions
Human-inspectable and versionable
Survives conversation compaction
Inject index first, content on demand
Use for curated facts—not raw transcripts.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846320" y="1097280"/>
            <a:ext cx="3749039" cy="265176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846320" y="1097280"/>
            <a:ext cx="73152" cy="265176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10912" y="1207007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FileAccessProvider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10912" y="1572768"/>
            <a:ext cx="3474720" cy="20848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30" b="0" i="0">
                <a:solidFill>
                  <a:srgbClr val="54545F"/>
                </a:solidFill>
                <a:latin typeface="Arial"/>
              </a:rPr>
              <a:t>Scoped read/write operations
Workspace as an agent artifact boundary
Host can inspect outputs independently
Canonicalize paths; deny traversal; separate tenant roots; cap file size.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85800" y="4069080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C9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95528" y="4151376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50" b="1" i="0">
                <a:solidFill>
                  <a:srgbClr val="C93535"/>
                </a:solidFill>
                <a:latin typeface="Arial"/>
              </a:rPr>
              <a:t>Filesystem access is a capability boundary: root scope, extension policy, quotas, and audit logs are mandatory.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M4 · PROGRESSIVE EXPERTISE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SkillsProvider and On-Demand Loading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29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1051560"/>
            <a:ext cx="4343400" cy="347472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" y="1124712"/>
            <a:ext cx="4050791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catalog → select → load → use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6" y="1362456"/>
            <a:ext cx="4087368" cy="30723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90" b="0" i="0">
                <a:solidFill>
                  <a:srgbClr val="FFFFFF"/>
                </a:solidFill>
                <a:latin typeface="Aptos Mono"/>
              </a:rPr>
              <a:t>skills = SkillsProvider(
    FileSkillsSource("skills/")
)
agent = create_harness_agent(
    client=get_chat_client(),
    skills_provider=skills,
    auto_approval_rules=[
        SkillsProvider.all_tools_auto_approval_rule
    ],
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166360" y="1234440"/>
            <a:ext cx="642365" cy="502920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DISCOVER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5827014" y="1485900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6064758" y="1234440"/>
            <a:ext cx="642365" cy="502920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SELECT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725412" y="1485900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6963156" y="1234440"/>
            <a:ext cx="642365" cy="502920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LOAD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623810" y="1485900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7861554" y="1234440"/>
            <a:ext cx="642365" cy="502920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EXECUTE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074920" y="2057400"/>
            <a:ext cx="3520440" cy="91440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074920" y="2057400"/>
            <a:ext cx="73152" cy="91440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39512" y="216712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CATALOG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39512" y="2532888"/>
            <a:ext cx="32461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Names + descriptions stay in the prompt.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074920" y="3154680"/>
            <a:ext cx="3520440" cy="91440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074920" y="3154680"/>
            <a:ext cx="73152" cy="91440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239512" y="326440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D6249F"/>
                </a:solidFill>
                <a:latin typeface="Arial"/>
              </a:rPr>
              <a:t>DETAIL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239512" y="3630168"/>
            <a:ext cx="32461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Instructions, references, and scripts load only when chosen.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5102352" y="4251960"/>
            <a:ext cx="3465576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C93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212080" y="4334256"/>
            <a:ext cx="32461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869" b="1" i="0">
                <a:solidFill>
                  <a:srgbClr val="C93535"/>
                </a:solidFill>
                <a:latin typeface="Arial"/>
              </a:rPr>
              <a:t>Auto-approve loading ≠ auto-approve skill side effects.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M4 · LONG-RUNNING WORK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Background Agents and Autonomous Looping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078992"/>
            <a:ext cx="1386230" cy="621792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PLAN TODOS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998878" y="138988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236622" y="1078992"/>
            <a:ext cx="1386230" cy="621792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DELEGATE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41140" y="138988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878884" y="1078992"/>
            <a:ext cx="1386230" cy="621792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COLLECT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283403" y="138988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521147" y="1078992"/>
            <a:ext cx="1386230" cy="621792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COMPLETE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925665" y="1389888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7163409" y="1078992"/>
            <a:ext cx="1386230" cy="621792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CONTINUE?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48640" y="2057400"/>
            <a:ext cx="3931920" cy="214884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4944" y="2130552"/>
            <a:ext cx="363931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explicit continuation predicate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6656" y="2368296"/>
            <a:ext cx="3675887" cy="17465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FFFFFF"/>
                </a:solidFill>
                <a:latin typeface="Aptos Mono"/>
              </a:rPr>
              <a:t>agent = create_harness_agent(
    ...,
    enable_background_agents=True,
    autonomous=True,
    loop_should_continue=todos_remaining(
        looping_modes=["execute"]
    ),
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754880" y="2057400"/>
            <a:ext cx="3840480" cy="214884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54880" y="2057400"/>
            <a:ext cx="73152" cy="2148840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919472" y="2167128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C93535"/>
                </a:solidFill>
                <a:latin typeface="Arial"/>
              </a:rPr>
              <a:t>BOUND THE LOOP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19472" y="2532888"/>
            <a:ext cx="3566160" cy="1581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90" b="0" i="0">
                <a:solidFill>
                  <a:srgbClr val="54545F"/>
                </a:solidFill>
                <a:latin typeface="Arial"/>
              </a:rPr>
              <a:t>Max iterations / wall time
Token + tool budgets
Cancellation propagation
Idempotent resumability
Heartbeat + lease ownership
Escalate repeated failures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85800" y="4434840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5528" y="4517136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One run() is one turn; autonomous completion requires a host-visible continuation and stop policy.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M7 · OPERATIONS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OpenTelemetry and Observability Architecture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31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024128"/>
            <a:ext cx="50749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749808" y="1152144"/>
            <a:ext cx="1572768" cy="310896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SCENARIO SPAN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14600" y="1170432"/>
            <a:ext cx="29718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54545F"/>
                </a:solidFill>
                <a:latin typeface="Arial"/>
              </a:rPr>
              <a:t>user request · tenant · session · release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4360" y="1719072"/>
            <a:ext cx="50749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49808" y="1847088"/>
            <a:ext cx="1572768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AGENT / WORKFLOW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14600" y="1865376"/>
            <a:ext cx="29718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54545F"/>
                </a:solidFill>
                <a:latin typeface="Arial"/>
              </a:rPr>
              <a:t>mode · todo count · checkpoint · delegation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94360" y="2414016"/>
            <a:ext cx="50749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2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49808" y="2542032"/>
            <a:ext cx="1572768" cy="310896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MODEL CALL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14600" y="2560320"/>
            <a:ext cx="29718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54545F"/>
                </a:solidFill>
                <a:latin typeface="Arial"/>
              </a:rPr>
              <a:t>provider · model · latency · tokens · finish reason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4360" y="3108960"/>
            <a:ext cx="50749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9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49808" y="3236976"/>
            <a:ext cx="1572768" cy="310896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TOOL CALL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14600" y="3255264"/>
            <a:ext cx="29718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54545F"/>
                </a:solidFill>
                <a:latin typeface="Arial"/>
              </a:rPr>
              <a:t>tool · approval · latency · status · result size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94360" y="3803904"/>
            <a:ext cx="507492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D8B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749808" y="3931920"/>
            <a:ext cx="1572768" cy="310896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STATE / COMPACTION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14600" y="3950208"/>
            <a:ext cx="29718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80" b="0" i="0">
                <a:solidFill>
                  <a:srgbClr val="54545F"/>
                </a:solidFill>
                <a:latin typeface="Arial"/>
              </a:rPr>
              <a:t>persist · restore · token budget · summary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989320" y="1024128"/>
            <a:ext cx="2560320" cy="114300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989320" y="1024128"/>
            <a:ext cx="73152" cy="114300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153912" y="1133856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MIDDLEWARE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53912" y="1499616"/>
            <a:ext cx="2286000" cy="576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Control point before/after each model call: usage, redaction, retries, policy.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89320" y="2423160"/>
            <a:ext cx="2560320" cy="114300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989320" y="2423160"/>
            <a:ext cx="73152" cy="114300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153912" y="2532888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OTEL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53912" y="2898648"/>
            <a:ext cx="2286000" cy="5760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Portable traces emitted to console, Phoenix, Langfuse, or another OTLP backend.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989320" y="3822191"/>
            <a:ext cx="2560320" cy="713232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89320" y="3822191"/>
            <a:ext cx="73152" cy="713232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53912" y="3931920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C93535"/>
                </a:solidFill>
                <a:latin typeface="Arial"/>
              </a:rPr>
              <a:t>DATA POLICY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53912" y="4297679"/>
            <a:ext cx="22860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30" b="0" i="0">
                <a:solidFill>
                  <a:srgbClr val="54545F"/>
                </a:solidFill>
                <a:latin typeface="Arial"/>
              </a:rPr>
              <a:t>Sensitive content off by default.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M5 · CHOOSE CONTROL SHAPE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Orchestration Pattern Comparison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32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411480" y="987552"/>
          <a:ext cx="832104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600200"/>
                <a:gridCol w="2148840"/>
                <a:gridCol w="3429000"/>
              </a:tblGrid>
              <a:tr h="617220"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Pattern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Control owner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Best fit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Recovery / tradeoff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Sequential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Workflow graph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Ordered pipeline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Simple checkpoints; serial latency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Concurrent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Fan-out / merge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Independent evidence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Partial results; merge semantics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Handoff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Current agent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Triage / escalation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Conversation transfer; route loops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Group chat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Manager / policy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Debate / collaboration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High token cost; convergence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Magentic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Dynamic manager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Open-ended delegation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Flexible; least predictable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640080" y="4736592"/>
            <a:ext cx="78638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50" b="1" i="0">
                <a:solidFill>
                  <a:srgbClr val="4B3FC4"/>
                </a:solidFill>
                <a:latin typeface="Arial"/>
              </a:rPr>
              <a:t>Rule: prefer the least dynamic pattern that satisfies the task and recovery requirements.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M5 · EXPLICIT ORDER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Sequential Workflows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33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02920" y="1033271"/>
            <a:ext cx="4480560" cy="347472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9224" y="1106424"/>
            <a:ext cx="418795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agents as workflow nodes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6" y="1344168"/>
            <a:ext cx="4224528" cy="30723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90" b="0" i="0">
                <a:solidFill>
                  <a:srgbClr val="FFFFFF"/>
                </a:solidFill>
                <a:latin typeface="Aptos Mono"/>
              </a:rPr>
              <a:t>workflow = (
    WorkflowBuilder(
        start_executor=intake,
        output_from="all",
    )
    .add_edge(intake, researcher)
    .add_edge(researcher, reviewer)
    .build()
)
result = await workflow.run(ticket)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285232" y="1280160"/>
            <a:ext cx="850392" cy="566928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INTAKE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153912" y="1563624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6391656" y="1280160"/>
            <a:ext cx="850392" cy="566928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RESEARCH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7260336" y="1563624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7498079" y="1280160"/>
            <a:ext cx="850392" cy="566928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74920" y="2148840"/>
            <a:ext cx="3520440" cy="91440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074920" y="2148840"/>
            <a:ext cx="73152" cy="91440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239512" y="22585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WHY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39512" y="2624328"/>
            <a:ext cx="32461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Order is a correctness property; each stage narrows the next contract.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074920" y="3273552"/>
            <a:ext cx="3520440" cy="91440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74920" y="3273552"/>
            <a:ext cx="73152" cy="914400"/>
          </a:xfrm>
          <a:prstGeom prst="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239512" y="3383280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D8B62"/>
                </a:solidFill>
                <a:latin typeface="Arial"/>
              </a:rPr>
              <a:t>CHECKPOINT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39512" y="3749039"/>
            <a:ext cx="324612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50" b="0" i="0">
                <a:solidFill>
                  <a:srgbClr val="54545F"/>
                </a:solidFill>
                <a:latin typeface="Arial"/>
              </a:rPr>
              <a:t>Persist stage input/output so restart resumes at the failed edge.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102352" y="4370832"/>
            <a:ext cx="3465576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D62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0" y="4453128"/>
            <a:ext cx="324612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19" b="1" i="0">
                <a:solidFill>
                  <a:srgbClr val="D6249F"/>
                </a:solidFill>
                <a:latin typeface="Arial"/>
              </a:rPr>
              <a:t>Cost: total latency is additive.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M5 · PARALLEL EVIDENCE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Concurrent Fan-Out / Merge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40080" y="2148840"/>
            <a:ext cx="128016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108960" y="1143000"/>
            <a:ext cx="1417320" cy="310896"/>
          </a:xfrm>
          <a:prstGeom prst="round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SECURITY</a:t>
            </a:r>
          </a:p>
        </p:txBody>
      </p:sp>
      <p:cxnSp>
        <p:nvCxnSpPr>
          <p:cNvPr id="87" name="Connector 86"/>
          <p:cNvCxnSpPr/>
          <p:nvPr/>
        </p:nvCxnSpPr>
        <p:spPr>
          <a:xfrm flipV="1">
            <a:off x="1965960" y="1298448"/>
            <a:ext cx="1069848" cy="1005840"/>
          </a:xfrm>
          <a:prstGeom prst="line">
            <a:avLst/>
          </a:prstGeom>
          <a:ln w="25400">
            <a:solidFill>
              <a:srgbClr val="C9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590288" y="1298448"/>
            <a:ext cx="1243584" cy="1005840"/>
          </a:xfrm>
          <a:prstGeom prst="line">
            <a:avLst/>
          </a:prstGeom>
          <a:ln w="25400">
            <a:solidFill>
              <a:srgbClr val="C935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108960" y="2148840"/>
            <a:ext cx="1417320" cy="310896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965960" y="2304288"/>
            <a:ext cx="1069848" cy="0"/>
          </a:xfrm>
          <a:prstGeom prst="line">
            <a:avLst/>
          </a:prstGeom>
          <a:ln w="2540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590288" y="2304288"/>
            <a:ext cx="1243584" cy="0"/>
          </a:xfrm>
          <a:prstGeom prst="line">
            <a:avLst/>
          </a:prstGeom>
          <a:ln w="2540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3108960" y="3154680"/>
            <a:ext cx="1417320" cy="310896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RELIABILITY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965960" y="2304288"/>
            <a:ext cx="1069848" cy="1005840"/>
          </a:xfrm>
          <a:prstGeom prst="line">
            <a:avLst/>
          </a:prstGeom>
          <a:ln w="2540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4590288" y="2304288"/>
            <a:ext cx="1243584" cy="1005840"/>
          </a:xfrm>
          <a:prstGeom prst="line">
            <a:avLst/>
          </a:prstGeom>
          <a:ln w="2540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5897880" y="2148840"/>
            <a:ext cx="1234440" cy="310896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7178040" y="2304288"/>
            <a:ext cx="1051560" cy="0"/>
          </a:xfrm>
          <a:prstGeom prst="line">
            <a:avLst/>
          </a:prstGeom>
          <a:ln w="25400">
            <a:solidFill>
              <a:srgbClr val="1D8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7635240" y="2788920"/>
            <a:ext cx="1005840" cy="310896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94360" y="3886200"/>
            <a:ext cx="2423160" cy="82296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94360" y="3886200"/>
            <a:ext cx="73152" cy="82296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8952" y="3995928"/>
            <a:ext cx="21488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MERGE CONTRACT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58952" y="4361688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40" b="0" i="0">
                <a:solidFill>
                  <a:srgbClr val="54545F"/>
                </a:solidFill>
                <a:latin typeface="Arial"/>
              </a:rPr>
              <a:t>Keyed outputs; explicit missing branch state.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364992" y="3886200"/>
            <a:ext cx="2423160" cy="82296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64992" y="3886200"/>
            <a:ext cx="73152" cy="822960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529584" y="3995928"/>
            <a:ext cx="21488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C93535"/>
                </a:solidFill>
                <a:latin typeface="Arial"/>
              </a:rPr>
              <a:t>FAILURE POLICY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29584" y="4361688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40" b="0" i="0">
                <a:solidFill>
                  <a:srgbClr val="54545F"/>
                </a:solidFill>
                <a:latin typeface="Arial"/>
              </a:rPr>
              <a:t>Fail-fast, quorum, or degraded response.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126480" y="3886200"/>
            <a:ext cx="2423160" cy="82296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26480" y="3886200"/>
            <a:ext cx="73152" cy="82296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91072" y="3995928"/>
            <a:ext cx="21488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RESOURCE POLICY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91072" y="4361688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40" b="0" i="0">
                <a:solidFill>
                  <a:srgbClr val="54545F"/>
                </a:solidFill>
                <a:latin typeface="Arial"/>
              </a:rPr>
              <a:t>Concurrency cap, timeout, cancellation.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M5 · DYNAMIC COLLABORATION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Handoff, Group Chat, and Manager / Delegate Patterns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35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502920" y="1051560"/>
          <a:ext cx="8138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011680"/>
                <a:gridCol w="2331720"/>
                <a:gridCol w="2560320"/>
              </a:tblGrid>
              <a:tr h="676656"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Mode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Control transfer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Required invariant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79" b="1">
                          <a:solidFill>
                            <a:srgbClr val="FFFFFF"/>
                          </a:solidFill>
                          <a:latin typeface="Arial"/>
                        </a:rPr>
                        <a:t>Watch for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Handoff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One specialist becomes active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Full conversation travels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Ping-pong routes; lost ownership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Group chat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Shared conversation under manager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Turn-selection + stop rule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Echo chambers; token explosion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Manager/delegate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Manager plans and assigns work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Task IDs + result contracts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Manager bottleneck; weak verification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Magentic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Manager replans dynamically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Budgets + durable progress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0" b="0">
                          <a:solidFill>
                            <a:srgbClr val="181818"/>
                          </a:solidFill>
                          <a:latin typeface="Arial"/>
                        </a:rPr>
                        <a:t>Non-reproducible trajectories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685800" y="4553712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5528" y="4636008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50" b="1" i="0">
                <a:solidFill>
                  <a:srgbClr val="4B3FC4"/>
                </a:solidFill>
                <a:latin typeface="Arial"/>
              </a:rPr>
              <a:t>Handoff participants require per-service-call history persistence so control transfer carries complete state.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M6 · IMPROVE ON PURPOSE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Evaluation Loop and Golden Datasets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36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1060704"/>
            <a:ext cx="1386230" cy="621792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DEFINE CHECKS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998878" y="1371600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2236622" y="1060704"/>
            <a:ext cx="1386230" cy="621792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RUN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3641140" y="1371600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3878884" y="1060704"/>
            <a:ext cx="1386230" cy="621792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INSPECT FAILURES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5283403" y="1371600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521147" y="1060704"/>
            <a:ext cx="1386230" cy="621792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IMPROVE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925665" y="1371600"/>
            <a:ext cx="219456" cy="0"/>
          </a:xfrm>
          <a:prstGeom prst="line">
            <a:avLst/>
          </a:prstGeom>
          <a:ln w="19050">
            <a:solidFill>
              <a:srgbClr val="5454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7163409" y="1060704"/>
            <a:ext cx="1386230" cy="621792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RERUN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94360" y="2148840"/>
            <a:ext cx="3749039" cy="205740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94360" y="2148840"/>
            <a:ext cx="73152" cy="205740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58952" y="2258568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4B3FC4"/>
                </a:solidFill>
                <a:latin typeface="Arial"/>
              </a:rPr>
              <a:t>GOLDEN CASE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8952" y="2624328"/>
            <a:ext cx="3474720" cy="1490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80" b="0" i="0">
                <a:solidFill>
                  <a:srgbClr val="54545F"/>
                </a:solidFill>
                <a:latin typeface="Arial"/>
              </a:rPr>
              <a:t>Query
Expected output / fact groups
Minimum required tool calls
Forbidden claims
Frozen time and fixtures
Known refusal / escalation cases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800600" y="2148840"/>
            <a:ext cx="3749039" cy="205740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800600" y="2148840"/>
            <a:ext cx="73152" cy="205740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965192" y="2258568"/>
            <a:ext cx="3474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109AB5"/>
                </a:solidFill>
                <a:latin typeface="Arial"/>
              </a:rPr>
              <a:t>DATASET HYGIENE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65192" y="2624328"/>
            <a:ext cx="3474720" cy="1490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80" b="0" i="0">
                <a:solidFill>
                  <a:srgbClr val="54545F"/>
                </a:solidFill>
                <a:latin typeface="Arial"/>
              </a:rPr>
              <a:t>Version beside code
Review diffs in PRs
Do not over-specify trajectories
Fail loudly on unknown cases
Reuse captured responses
Track per-slice regressions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85800" y="4434840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D62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5528" y="4517136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D6249F"/>
                </a:solidFill>
                <a:latin typeface="Arial"/>
              </a:rPr>
              <a:t>Freeze volatile facts: a test set whose right answer changes overnight is not golden.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M6 · CI POLICY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Deterministic Evaluators vs LLM Judges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37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502920" y="1024128"/>
          <a:ext cx="47091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691640"/>
                <a:gridCol w="1691640"/>
              </a:tblGrid>
              <a:tr h="579120"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Deterministic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0" b="1">
                          <a:solidFill>
                            <a:srgbClr val="FFFFFF"/>
                          </a:solidFill>
                          <a:latin typeface="Arial"/>
                        </a:rPr>
                        <a:t>LLM judge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Checks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Facts, schema, tools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Groundedness, quality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Repeatability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Model/version drift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Debuggability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Exact failure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Rubric + rationale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Low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Extra model calls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CI role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Gate build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90" b="0">
                          <a:solidFill>
                            <a:srgbClr val="181818"/>
                          </a:solidFill>
                          <a:latin typeface="Arial"/>
                        </a:rPr>
                        <a:t>Inform analysis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</a:tbl>
          </a:graphicData>
        </a:graphic>
      </p:graphicFrame>
      <p:sp>
        <p:nvSpPr>
          <p:cNvPr id="86" name="Rounded Rectangle 85"/>
          <p:cNvSpPr/>
          <p:nvPr/>
        </p:nvSpPr>
        <p:spPr>
          <a:xfrm>
            <a:off x="5440680" y="1024128"/>
            <a:ext cx="3154680" cy="2423160"/>
          </a:xfrm>
          <a:prstGeom prst="roundRect">
            <a:avLst/>
          </a:prstGeom>
          <a:solidFill>
            <a:srgbClr val="2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586984" y="1097280"/>
            <a:ext cx="2862072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1" i="0">
                <a:solidFill>
                  <a:srgbClr val="109AB5"/>
                </a:solidFill>
                <a:latin typeface="Aptos Mono"/>
              </a:rPr>
              <a:t>minimum required behavior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68696" y="1335024"/>
            <a:ext cx="2898648" cy="20208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25" b="0" i="0">
                <a:solidFill>
                  <a:srgbClr val="FFFFFF"/>
                </a:solidFill>
                <a:latin typeface="Aptos Mono"/>
              </a:rPr>
              <a:t>expected = [
    ExpectedToolCall(
        "get_order",
        {"order_id": "CR-1042"},
    )
]
result.raise_for_status()  # CI gate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68112" y="3685032"/>
            <a:ext cx="3099816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D62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77840" y="3767328"/>
            <a:ext cx="28803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869" b="1" i="0">
                <a:solidFill>
                  <a:srgbClr val="D6249F"/>
                </a:solidFill>
                <a:latin typeface="Arial"/>
              </a:rPr>
              <a:t>Judge off-format? Fail closed in the report—not the build.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5800" y="4617720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95528" y="4700016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Policy: deterministic checks gate CI; LLM judges expose nuanced quality trends.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M7 · SHIP SAFELY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Production Guardrails and Operational Readiness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38</a:t>
            </a:r>
          </a:p>
        </p:txBody>
      </p:sp>
      <p:graphicFrame>
        <p:nvGraphicFramePr>
          <p:cNvPr id="85" name="Table 84"/>
          <p:cNvGraphicFramePr>
            <a:graphicFrameLocks noGrp="1"/>
          </p:cNvGraphicFramePr>
          <p:nvPr/>
        </p:nvGraphicFramePr>
        <p:xfrm>
          <a:off x="502920" y="1024128"/>
          <a:ext cx="8138159" cy="3493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977639"/>
                <a:gridCol w="3154680"/>
              </a:tblGrid>
              <a:tr h="499001"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FFFFFF"/>
                          </a:solidFill>
                          <a:latin typeface="Arial"/>
                        </a:rPr>
                        <a:t>Layer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FFFFFF"/>
                          </a:solidFill>
                          <a:latin typeface="Arial"/>
                        </a:rPr>
                        <a:t>Guardrail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9" b="1">
                          <a:solidFill>
                            <a:srgbClr val="FFFFFF"/>
                          </a:solidFill>
                          <a:latin typeface="Arial"/>
                        </a:rPr>
                        <a:t>Operational signal</a:t>
                      </a:r>
                    </a:p>
                  </a:txBody>
                  <a:tcPr marL="54864" marR="54864" marT="36576" marB="36576">
                    <a:solidFill>
                      <a:srgbClr val="4B3FC4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Input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Size, tenant auth, injection screening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Reject rate / category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Loop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Iteration, time, token, and cost budgets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Stop reason / budget burn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Tools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Allowlist, approval, timeout, idempotency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Latency / denied calls / retries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State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Encryption, retention, tenant-scoped restore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Persist failures / restore age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99001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Grounding, redaction, policy validation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Blocked claims / citations</a:t>
                      </a:r>
                    </a:p>
                  </a:txBody>
                  <a:tcPr marL="54864" marR="54864" marT="36576" marB="36576">
                    <a:solidFill>
                      <a:srgbClr val="F3F1FB"/>
                    </a:solidFill>
                  </a:tcPr>
                </a:tc>
              </a:tr>
              <a:tr h="49900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Platform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Circuit breakers, queues, rollout + rollback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81818"/>
                          </a:solidFill>
                          <a:latin typeface="Arial"/>
                        </a:rPr>
                        <a:t>SLOs / saturation / release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640080" y="4663440"/>
            <a:ext cx="78638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19" b="1" i="0">
                <a:solidFill>
                  <a:srgbClr val="C93535"/>
                </a:solidFill>
                <a:latin typeface="Arial"/>
              </a:rPr>
              <a:t>Failure handling is product behavior: partial answer, retry, compensate, pause, or escalate—choose explicitly.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M8 · REFERENCE SYSTEM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End-to-End Reference Architecture / Capstone Assembly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39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1325880"/>
            <a:ext cx="1143000" cy="310896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" y="1719072"/>
            <a:ext cx="114300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19" b="0" i="0">
                <a:solidFill>
                  <a:srgbClr val="54545F"/>
                </a:solidFill>
                <a:latin typeface="Arial"/>
              </a:rPr>
              <a:t>Web / API
A2A client
Batch / event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874519" y="1325880"/>
            <a:ext cx="12344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HOST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828800" y="1719072"/>
            <a:ext cx="132588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19" b="0" i="0">
                <a:solidFill>
                  <a:srgbClr val="54545F"/>
                </a:solidFill>
                <a:latin typeface="Arial"/>
              </a:rPr>
              <a:t>Auth + tenancy
Queue / cancel
Stream output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474720" y="1143000"/>
            <a:ext cx="2834640" cy="2240280"/>
          </a:xfrm>
          <a:prstGeom prst="roundRect">
            <a:avLst/>
          </a:prstGeom>
          <a:solidFill>
            <a:srgbClr val="F3F1FB"/>
          </a:solidFill>
          <a:ln w="12700">
            <a:solidFill>
              <a:srgbClr val="D624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657600" y="1325880"/>
            <a:ext cx="24688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 i="0">
                <a:solidFill>
                  <a:srgbClr val="D6249F"/>
                </a:solidFill>
                <a:latin typeface="Arial"/>
              </a:rPr>
              <a:t>HARNESS AGENT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0" y="1783080"/>
            <a:ext cx="24688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000" b="0" i="0">
                <a:solidFill>
                  <a:srgbClr val="54545F"/>
                </a:solidFill>
                <a:latin typeface="Arial"/>
              </a:rPr>
              <a:t>Todo + mode
Context + compaction
Tools + approvals
Skills + memory
Background agents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675120" y="1005840"/>
            <a:ext cx="1325880" cy="310896"/>
          </a:xfrm>
          <a:prstGeom prst="round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675120" y="1828800"/>
            <a:ext cx="1325880" cy="310896"/>
          </a:xfrm>
          <a:prstGeom prst="round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TOOLS / MCP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675120" y="2651760"/>
            <a:ext cx="1325880" cy="310896"/>
          </a:xfrm>
          <a:prstGeom prst="round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WORKFLOWS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1572768" y="1874519"/>
            <a:ext cx="256032" cy="0"/>
          </a:xfrm>
          <a:prstGeom prst="line">
            <a:avLst/>
          </a:prstGeom>
          <a:ln w="2540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172968" y="1874519"/>
            <a:ext cx="256032" cy="0"/>
          </a:xfrm>
          <a:prstGeom prst="line">
            <a:avLst/>
          </a:prstGeom>
          <a:ln w="25400">
            <a:solidFill>
              <a:srgbClr val="4B3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355080" y="1170432"/>
            <a:ext cx="274320" cy="246888"/>
          </a:xfrm>
          <a:prstGeom prst="line">
            <a:avLst/>
          </a:prstGeom>
          <a:ln w="25400">
            <a:solidFill>
              <a:srgbClr val="109A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355080" y="1984248"/>
            <a:ext cx="274320" cy="73152"/>
          </a:xfrm>
          <a:prstGeom prst="line">
            <a:avLst/>
          </a:prstGeom>
          <a:ln w="25400">
            <a:solidFill>
              <a:srgbClr val="1D8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355080" y="2697480"/>
            <a:ext cx="274320" cy="109728"/>
          </a:xfrm>
          <a:prstGeom prst="line">
            <a:avLst/>
          </a:prstGeom>
          <a:ln w="25400">
            <a:solidFill>
              <a:srgbClr val="6B3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594360" y="3931920"/>
            <a:ext cx="1463040" cy="310896"/>
          </a:xfrm>
          <a:prstGeom prst="round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DURABLE STATE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94560" y="3950208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54545F"/>
                </a:solidFill>
                <a:latin typeface="Arial"/>
              </a:rPr>
              <a:t>history · files · checkpoints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297680" y="3931920"/>
            <a:ext cx="1325880" cy="310896"/>
          </a:xfrm>
          <a:prstGeom prst="round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OTEL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760720" y="3950208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00" b="0" i="0">
                <a:solidFill>
                  <a:srgbClr val="54545F"/>
                </a:solidFill>
                <a:latin typeface="Arial"/>
              </a:rPr>
              <a:t>traces · usage · eval evidence · alerts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800600" y="3429000"/>
            <a:ext cx="0" cy="438912"/>
          </a:xfrm>
          <a:prstGeom prst="line">
            <a:avLst/>
          </a:prstGeom>
          <a:ln w="25400">
            <a:solidFill>
              <a:srgbClr val="D62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685800" y="4498848"/>
            <a:ext cx="7772400" cy="502920"/>
          </a:xfrm>
          <a:prstGeom prst="roundRect">
            <a:avLst/>
          </a:prstGeom>
          <a:solidFill>
            <a:srgbClr val="E9F6F8"/>
          </a:solidFill>
          <a:ln w="12700">
            <a:solidFill>
              <a:srgbClr val="109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95528" y="458114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950" b="1" i="0">
                <a:solidFill>
                  <a:srgbClr val="109AB5"/>
                </a:solidFill>
                <a:latin typeface="Arial"/>
              </a:rPr>
              <a:t>Deploy as A2A, Azure Functions, or container—the state and provider boundaries remain explicit.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0" descr="agent-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86840"/>
            <a:ext cx="4069080" cy="271272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502920" y="146304"/>
            <a:ext cx="77724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1" i="0">
                <a:solidFill>
                  <a:srgbClr val="D6249F"/>
                </a:solidFill>
                <a:latin typeface="Arial"/>
              </a:rPr>
              <a:t>CLOSE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02920" y="347472"/>
            <a:ext cx="790956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300" b="1" i="0">
                <a:solidFill>
                  <a:srgbClr val="181818"/>
                </a:solidFill>
                <a:latin typeface="Arial"/>
              </a:rPr>
              <a:t>Key Takeaways and Next Steps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30768" y="411480"/>
            <a:ext cx="2743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 i="0">
                <a:solidFill>
                  <a:srgbClr val="787884"/>
                </a:solidFill>
                <a:latin typeface="Arial"/>
              </a:rPr>
              <a:t>40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1097280"/>
            <a:ext cx="2468880" cy="1234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8640" y="1097280"/>
            <a:ext cx="73152" cy="1234440"/>
          </a:xfrm>
          <a:prstGeom prst="rect">
            <a:avLst/>
          </a:prstGeom>
          <a:solidFill>
            <a:srgbClr val="4B3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3232" y="1207007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4B3FC4"/>
                </a:solidFill>
                <a:latin typeface="Arial"/>
              </a:rPr>
              <a:t>1 · LOOP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3232" y="1572768"/>
            <a:ext cx="219456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Agent behavior emerges across calls. Instrument and bound the loop.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291840" y="1097280"/>
            <a:ext cx="2468880" cy="123444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91840" y="1097280"/>
            <a:ext cx="73152" cy="1234440"/>
          </a:xfrm>
          <a:prstGeom prst="rect">
            <a:avLst/>
          </a:prstGeom>
          <a:solidFill>
            <a:srgbClr val="D62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456432" y="1207007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D6249F"/>
                </a:solidFill>
                <a:latin typeface="Arial"/>
              </a:rPr>
              <a:t>2 · STATE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56432" y="1572768"/>
            <a:ext cx="219456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Make local history authoritative and persist after every service call.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035040" y="1097280"/>
            <a:ext cx="2468880" cy="1234440"/>
          </a:xfrm>
          <a:prstGeom prst="roundRect">
            <a:avLst/>
          </a:prstGeom>
          <a:solidFill>
            <a:srgbClr val="E9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035040" y="1097280"/>
            <a:ext cx="73152" cy="1234440"/>
          </a:xfrm>
          <a:prstGeom prst="rect">
            <a:avLst/>
          </a:prstGeom>
          <a:solidFill>
            <a:srgbClr val="109A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199631" y="1207007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09AB5"/>
                </a:solidFill>
                <a:latin typeface="Arial"/>
              </a:rPr>
              <a:t>3 · CONTEXT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99631" y="1572768"/>
            <a:ext cx="219456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Use progressive disclosure for skills and memory; compact deliberately.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8640" y="2606039"/>
            <a:ext cx="2468880" cy="1234440"/>
          </a:xfrm>
          <a:prstGeom prst="roundRect">
            <a:avLst/>
          </a:prstGeom>
          <a:solidFill>
            <a:srgbClr val="F3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48640" y="2606039"/>
            <a:ext cx="73152" cy="123444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" y="2715768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6B3FA0"/>
                </a:solidFill>
                <a:latin typeface="Arial"/>
              </a:rPr>
              <a:t>4 · CONTROL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3232" y="3081527"/>
            <a:ext cx="219456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Use workflows when order, recovery, or typed transitions are correctness properties.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291840" y="2606039"/>
            <a:ext cx="2468880" cy="123444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91840" y="2606039"/>
            <a:ext cx="73152" cy="1234440"/>
          </a:xfrm>
          <a:prstGeom prst="rect">
            <a:avLst/>
          </a:prstGeom>
          <a:solidFill>
            <a:srgbClr val="1D8B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456432" y="2715768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1D8B62"/>
                </a:solidFill>
                <a:latin typeface="Arial"/>
              </a:rPr>
              <a:t>5 · EVIDENCE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456432" y="3081527"/>
            <a:ext cx="219456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Gate CI deterministically; use judges for analysis and trend detection.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035040" y="2606039"/>
            <a:ext cx="2468880" cy="1234440"/>
          </a:xfrm>
          <a:prstGeom prst="roundRect">
            <a:avLst/>
          </a:prstGeom>
          <a:solidFill>
            <a:srgbClr val="F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035040" y="2606039"/>
            <a:ext cx="73152" cy="1234440"/>
          </a:xfrm>
          <a:prstGeom prst="rect">
            <a:avLst/>
          </a:prstGeom>
          <a:solidFill>
            <a:srgbClr val="C93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99631" y="2715768"/>
            <a:ext cx="21945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 i="0">
                <a:solidFill>
                  <a:srgbClr val="C93535"/>
                </a:solidFill>
                <a:latin typeface="Arial"/>
              </a:rPr>
              <a:t>6 · OPERATE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99631" y="3081527"/>
            <a:ext cx="2194560" cy="6675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950" b="0" i="0">
                <a:solidFill>
                  <a:srgbClr val="54545F"/>
                </a:solidFill>
                <a:latin typeface="Arial"/>
              </a:rPr>
              <a:t>Ship budgets, approvals, telemetry, failure policy, and hosting together.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685800" y="4315968"/>
            <a:ext cx="7772400" cy="502920"/>
          </a:xfrm>
          <a:prstGeom prst="roundRect">
            <a:avLst/>
          </a:prstGeom>
          <a:solidFill>
            <a:srgbClr val="FCECF7"/>
          </a:solidFill>
          <a:ln w="12700">
            <a:solidFill>
              <a:srgbClr val="4B3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95528" y="4398264"/>
            <a:ext cx="7552944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050" b="1" i="0">
                <a:solidFill>
                  <a:srgbClr val="4B3FC4"/>
                </a:solidFill>
                <a:latin typeface="Arial"/>
              </a:rPr>
              <a:t>Next: build M1 → add tools → engineer context → assemble the harness → evaluate → host.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4818888"/>
            <a:ext cx="777240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900" b="1" i="0">
                <a:solidFill>
                  <a:srgbClr val="6B3FA0"/>
                </a:solidFill>
                <a:latin typeface="Arial"/>
              </a:rPr>
              <a:t>monuminu.github.io/DHS-workshop26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On-screen Show (16:9)</PresentationFormat>
  <Paragraphs>121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Manoranjan Rajguru</cp:lastModifiedBy>
  <cp:revision>9</cp:revision>
  <dcterms:modified xsi:type="dcterms:W3CDTF">2026-07-18T08:39:50Z</dcterms:modified>
  <dc:title>Building Agents with the Microsoft Agent Framework</dc:title>
  <dc:subject>DHS 2026 deep technical workshop</dc:subject>
  <dc:creator>Manoranjan Rajguru</dc:creator>
  <dc:description>Generated from the DHS-workshop26 workshop content.</dc:description>
</cp:coreProperties>
</file>